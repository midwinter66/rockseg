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"/>
  </p:notesMasterIdLst>
  <p:sldIdLst>
    <p:sldId id="486" r:id="rId4"/>
    <p:sldId id="487" r:id="rId6"/>
    <p:sldId id="488" r:id="rId7"/>
    <p:sldId id="489" r:id="rId8"/>
    <p:sldId id="490" r:id="rId9"/>
    <p:sldId id="530" r:id="rId10"/>
    <p:sldId id="541" r:id="rId11"/>
    <p:sldId id="495" r:id="rId12"/>
    <p:sldId id="531" r:id="rId13"/>
    <p:sldId id="529" r:id="rId14"/>
    <p:sldId id="543" r:id="rId15"/>
    <p:sldId id="517" r:id="rId16"/>
    <p:sldId id="544" r:id="rId17"/>
    <p:sldId id="546" r:id="rId18"/>
    <p:sldId id="547" r:id="rId19"/>
    <p:sldId id="545" r:id="rId20"/>
    <p:sldId id="539" r:id="rId21"/>
    <p:sldId id="520" r:id="rId22"/>
    <p:sldId id="527" r:id="rId23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BEA2D3E8-5105-4115-B743-87307FDCB181}">
          <p14:sldIdLst>
            <p14:sldId id="486"/>
            <p14:sldId id="487"/>
            <p14:sldId id="488"/>
            <p14:sldId id="489"/>
            <p14:sldId id="490"/>
            <p14:sldId id="530"/>
            <p14:sldId id="541"/>
            <p14:sldId id="495"/>
            <p14:sldId id="531"/>
            <p14:sldId id="529"/>
            <p14:sldId id="543"/>
            <p14:sldId id="517"/>
            <p14:sldId id="544"/>
            <p14:sldId id="546"/>
            <p14:sldId id="547"/>
            <p14:sldId id="545"/>
            <p14:sldId id="539"/>
            <p14:sldId id="520"/>
            <p14:sldId id="52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8EE"/>
    <a:srgbClr val="003B9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10" autoAdjust="0"/>
    <p:restoredTop sz="93289" autoAdjust="0"/>
  </p:normalViewPr>
  <p:slideViewPr>
    <p:cSldViewPr snapToGrid="0">
      <p:cViewPr varScale="1">
        <p:scale>
          <a:sx n="137" d="100"/>
          <a:sy n="137" d="100"/>
        </p:scale>
        <p:origin x="126" y="39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66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0533F-0FF2-42CD-B8D3-05896C0AD2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78A3-4BF6-4CEB-ACDA-04BCD451A55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我这边和大家分享一下如何制作开题和答辩的</a:t>
            </a:r>
            <a:r>
              <a:rPr lang="en-US" altLang="zh-CN" dirty="0"/>
              <a:t>PPT</a:t>
            </a:r>
            <a:r>
              <a:rPr lang="zh-CN" altLang="en-US" dirty="0"/>
              <a:t>。主要就是梳理需要包含哪些内容，具体怎么做好看，那我相信大家都有自己的想法和设计。</a:t>
            </a:r>
            <a:endParaRPr lang="en-US" altLang="zh-CN" dirty="0"/>
          </a:p>
          <a:p>
            <a:r>
              <a:rPr lang="zh-CN" altLang="en-US" dirty="0"/>
              <a:t>首先封面需要包含以下几个内容，题目，答辩人，导师以及答辩日期。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在开题中，前四个部分的内容是需要包含的，在毕业答辩的时候这里的目录可以使用大论文各章节的名称。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</a:t>
            </a:r>
            <a:r>
              <a:rPr lang="en-US" altLang="zh-CN" dirty="0"/>
              <a:t>PPT</a:t>
            </a:r>
            <a:r>
              <a:rPr lang="zh-CN" altLang="en-US" dirty="0"/>
              <a:t>的第一部分介绍研究背景及意义。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首先，</a:t>
            </a:r>
            <a:r>
              <a:rPr lang="en-US" altLang="zh-CN" dirty="0"/>
              <a:t>PPT</a:t>
            </a:r>
            <a:r>
              <a:rPr lang="zh-CN" altLang="en-US" dirty="0"/>
              <a:t>的第一部分介绍研究背景及意义。设置的核心目的就是，表示我熟悉这个领域，引出课题的同时能够让老师在较短的时间内了解你所研究的领域。</a:t>
            </a:r>
            <a:endParaRPr lang="en-US" altLang="zh-CN" dirty="0"/>
          </a:p>
          <a:p>
            <a:r>
              <a:rPr lang="zh-CN" altLang="en-US" dirty="0"/>
              <a:t>通常这部分要能够简明扼要地介绍研究领域的现状；下一页</a:t>
            </a:r>
            <a:endParaRPr lang="zh-CN" altLang="en-US" dirty="0"/>
          </a:p>
          <a:p>
            <a:r>
              <a:rPr lang="zh-CN" altLang="en-US" dirty="0"/>
              <a:t>强调本课题在学术和实际应用中的价值；</a:t>
            </a:r>
            <a:endParaRPr lang="zh-CN" altLang="en-US" dirty="0"/>
          </a:p>
          <a:p>
            <a:r>
              <a:rPr lang="zh-CN" altLang="en-US" dirty="0"/>
              <a:t>这里可以引用几项关键文献，为自己的研究提供理论支持。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研究意义是强调本课题在基础研究、实际应用以及技术发展中的价值；</a:t>
            </a:r>
            <a:endParaRPr lang="zh-CN" altLang="en-US" dirty="0"/>
          </a:p>
          <a:p>
            <a:r>
              <a:rPr lang="zh-CN" altLang="en-US" dirty="0"/>
              <a:t>这两个部分可以引用几项关键文献，为自己的研究提供理论支持。</a:t>
            </a:r>
            <a:endParaRPr lang="en-US" altLang="zh-CN" dirty="0"/>
          </a:p>
          <a:p>
            <a:r>
              <a:rPr lang="zh-CN" altLang="en-US" dirty="0"/>
              <a:t>所引用的参考文献可以向这样放置在单页的</a:t>
            </a:r>
            <a:r>
              <a:rPr lang="en-US" altLang="zh-CN" dirty="0"/>
              <a:t>PPT</a:t>
            </a:r>
            <a:r>
              <a:rPr lang="zh-CN" altLang="en-US" dirty="0"/>
              <a:t>，也可以放在后面一起汇总。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第二部分，需要清楚地阐述研究的具体内容与目的。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然后细化各项研究内容，列出每一项具体的实验设计和研究方法；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第三部分是研究方法与思路。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第三部分是研究方法与思路。</a:t>
            </a:r>
            <a:endParaRPr lang="en-US" altLang="zh-CN" dirty="0"/>
          </a:p>
          <a:p>
            <a:r>
              <a:rPr lang="zh-CN" altLang="en-US" dirty="0"/>
              <a:t>这部分的</a:t>
            </a:r>
            <a:r>
              <a:rPr lang="zh-CN" altLang="en-US" b="1" dirty="0"/>
              <a:t>核心目的</a:t>
            </a:r>
            <a:r>
              <a:rPr lang="zh-CN" altLang="en-US" b="0" dirty="0"/>
              <a:t>是表达出</a:t>
            </a:r>
            <a:r>
              <a:rPr lang="zh-CN" altLang="en-US" dirty="0"/>
              <a:t>：我要做什么，我要怎么做？</a:t>
            </a:r>
            <a:endParaRPr lang="en-US" altLang="zh-CN" dirty="0"/>
          </a:p>
          <a:p>
            <a:r>
              <a:rPr lang="zh-CN" altLang="en-US" dirty="0"/>
              <a:t>确定好实施的方法后，拆解成一个一个小的任务目标。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从数据收集到分析，再到最后的结果呈现，整体方法要有条理。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最后，可以展示一下目前的研究进展以及未来研究安排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展示已经完成的工作，例如实验数据的收集整理、初步结果的分析；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可以在这里输入初步的研究结果，以及从实验结果中获得的启发，并以此来指导下一步研究内容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这部分重点是：</a:t>
            </a:r>
            <a:endParaRPr lang="zh-CN" altLang="en-US" dirty="0"/>
          </a:p>
          <a:p>
            <a:r>
              <a:rPr lang="zh-CN" altLang="en-US" dirty="0"/>
              <a:t>展示已经完成的工作，例如实验数据的收集整理、初步结果的分析；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最后，可以展示一下目前的研究进展以及未来研究安排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这部分重点是：</a:t>
            </a:r>
            <a:endParaRPr lang="zh-CN" altLang="en-US" dirty="0"/>
          </a:p>
          <a:p>
            <a:r>
              <a:rPr lang="zh-CN" altLang="en-US" dirty="0"/>
              <a:t>展示已经完成的工作，例如实验数据的收集整理、初步结果的分析；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这部分重点是：</a:t>
            </a:r>
            <a:endParaRPr lang="zh-CN" altLang="en-US" dirty="0"/>
          </a:p>
          <a:p>
            <a:r>
              <a:rPr lang="zh-CN" altLang="en-US" dirty="0"/>
              <a:t>展示已经完成的工作，例如实验数据的收集整理、初步结果的分析；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最后，可以展示一下目前的研究进展以及未来研究安排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类似的模板可以这样设置。大家可以根据自己的喜好自行设计。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最后就是</a:t>
            </a:r>
            <a:r>
              <a:rPr lang="en-US" altLang="zh-CN" dirty="0"/>
              <a:t>PPT</a:t>
            </a:r>
            <a:r>
              <a:rPr lang="zh-CN" altLang="en-US" dirty="0"/>
              <a:t>中所引用的文献可以向这样汇总，也可以设置在文献出现的</a:t>
            </a:r>
            <a:r>
              <a:rPr lang="en-US" altLang="zh-CN" dirty="0"/>
              <a:t>PPT</a:t>
            </a:r>
            <a:r>
              <a:rPr lang="zh-CN" altLang="en-US" dirty="0"/>
              <a:t>页码中。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最后可以再做一页收尾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74483" y="189144"/>
            <a:ext cx="1855303" cy="463227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5033" y="6425619"/>
            <a:ext cx="2276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笃学力行，守正求新</a:t>
            </a:r>
            <a:endParaRPr lang="zh-CN" altLang="en-US" dirty="0">
              <a:solidFill>
                <a:schemeClr val="accent3"/>
              </a:solidFill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25033" y="6425619"/>
            <a:ext cx="2276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笃学力行，守正求新</a:t>
            </a:r>
            <a:endParaRPr lang="zh-CN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25033" y="6425619"/>
            <a:ext cx="2276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笃学力行，守正求新</a:t>
            </a:r>
            <a:endParaRPr lang="zh-CN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25033" y="6425619"/>
            <a:ext cx="2276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笃学力行，守正求新</a:t>
            </a:r>
            <a:endParaRPr lang="zh-CN" altLang="en-US" dirty="0">
              <a:solidFill>
                <a:schemeClr val="accent3"/>
              </a:solidFill>
            </a:endParaRPr>
          </a:p>
        </p:txBody>
      </p:sp>
      <p:sp>
        <p:nvSpPr>
          <p:cNvPr id="3" name="梯形 2"/>
          <p:cNvSpPr/>
          <p:nvPr userDrawn="1"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椭圆 3"/>
          <p:cNvSpPr/>
          <p:nvPr userDrawn="1"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3184" y="1542950"/>
            <a:ext cx="2800169" cy="28001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74483" y="189144"/>
            <a:ext cx="1855303" cy="463227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25033" y="6425619"/>
            <a:ext cx="2276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笃学力行，守正求新</a:t>
            </a:r>
            <a:endParaRPr lang="zh-CN" altLang="en-US" dirty="0">
              <a:solidFill>
                <a:schemeClr val="accent3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74484" y="189144"/>
            <a:ext cx="1855303" cy="463227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91D9-ED4B-4903-9E6B-E161CC7090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E687-C7C0-48CD-B3AE-76BEF7F09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91D9-ED4B-4903-9E6B-E161CC7090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E687-C7C0-48CD-B3AE-76BEF7F09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91D9-ED4B-4903-9E6B-E161CC7090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E687-C7C0-48CD-B3AE-76BEF7F09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91D9-ED4B-4903-9E6B-E161CC7090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E687-C7C0-48CD-B3AE-76BEF7F09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91D9-ED4B-4903-9E6B-E161CC7090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E687-C7C0-48CD-B3AE-76BEF7F09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91D9-ED4B-4903-9E6B-E161CC7090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E687-C7C0-48CD-B3AE-76BEF7F09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91D9-ED4B-4903-9E6B-E161CC7090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E687-C7C0-48CD-B3AE-76BEF7F09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91D9-ED4B-4903-9E6B-E161CC7090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E687-C7C0-48CD-B3AE-76BEF7F09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91D9-ED4B-4903-9E6B-E161CC7090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E687-C7C0-48CD-B3AE-76BEF7F09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91D9-ED4B-4903-9E6B-E161CC7090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E687-C7C0-48CD-B3AE-76BEF7F09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91D9-ED4B-4903-9E6B-E161CC7090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E687-C7C0-48CD-B3AE-76BEF7F09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6870" indent="-356870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6870" indent="-356870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491D9-ED4B-4903-9E6B-E161CC7090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4E687-C7C0-48CD-B3AE-76BEF7F097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.xml"/><Relationship Id="rId25" Type="http://schemas.openxmlformats.org/officeDocument/2006/relationships/themeOverride" Target="../theme/themeOverride2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4.xml"/><Relationship Id="rId1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.xml"/><Relationship Id="rId15" Type="http://schemas.openxmlformats.org/officeDocument/2006/relationships/themeOverride" Target="../theme/themeOverride5.xml"/><Relationship Id="rId14" Type="http://schemas.openxmlformats.org/officeDocument/2006/relationships/image" Target="../media/image6.png"/><Relationship Id="rId13" Type="http://schemas.openxmlformats.org/officeDocument/2006/relationships/slide" Target="slide18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7.xml"/><Relationship Id="rId3" Type="http://schemas.openxmlformats.org/officeDocument/2006/relationships/image" Target="../media/image8.png"/><Relationship Id="rId2" Type="http://schemas.openxmlformats.org/officeDocument/2006/relationships/tags" Target="../tags/tag36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8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9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3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0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9" Type="http://schemas.openxmlformats.org/officeDocument/2006/relationships/notesSlide" Target="../notesSlides/notesSlide17.xml"/><Relationship Id="rId28" Type="http://schemas.openxmlformats.org/officeDocument/2006/relationships/slideLayout" Target="../slideLayouts/slideLayout1.xml"/><Relationship Id="rId27" Type="http://schemas.openxmlformats.org/officeDocument/2006/relationships/themeOverride" Target="../theme/themeOverride12.xml"/><Relationship Id="rId26" Type="http://schemas.openxmlformats.org/officeDocument/2006/relationships/tags" Target="../tags/tag65.xml"/><Relationship Id="rId25" Type="http://schemas.openxmlformats.org/officeDocument/2006/relationships/tags" Target="../tags/tag64.xml"/><Relationship Id="rId24" Type="http://schemas.openxmlformats.org/officeDocument/2006/relationships/tags" Target="../tags/tag63.xml"/><Relationship Id="rId23" Type="http://schemas.openxmlformats.org/officeDocument/2006/relationships/tags" Target="../tags/tag62.xml"/><Relationship Id="rId22" Type="http://schemas.openxmlformats.org/officeDocument/2006/relationships/tags" Target="../tags/tag61.xml"/><Relationship Id="rId21" Type="http://schemas.openxmlformats.org/officeDocument/2006/relationships/tags" Target="../tags/tag60.xml"/><Relationship Id="rId20" Type="http://schemas.openxmlformats.org/officeDocument/2006/relationships/tags" Target="../tags/tag59.xml"/><Relationship Id="rId2" Type="http://schemas.openxmlformats.org/officeDocument/2006/relationships/tags" Target="../tags/tag41.xml"/><Relationship Id="rId19" Type="http://schemas.openxmlformats.org/officeDocument/2006/relationships/tags" Target="../tags/tag58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0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3.xml"/><Relationship Id="rId1" Type="http://schemas.openxmlformats.org/officeDocument/2006/relationships/slide" Target="slide4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4.xml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5"/>
          <p:cNvSpPr txBox="1"/>
          <p:nvPr/>
        </p:nvSpPr>
        <p:spPr>
          <a:xfrm>
            <a:off x="6028782" y="4969057"/>
            <a:ext cx="1370330" cy="37846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导师：许</a:t>
            </a: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晨</a:t>
            </a:r>
            <a:endParaRPr kumimoji="0" lang="zh-CN" altLang="en-US" sz="1865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372002" y="4231580"/>
            <a:ext cx="5088826" cy="47256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笃学力行，守正求新</a:t>
            </a:r>
            <a:endParaRPr kumimoji="0" lang="zh-CN" altLang="en-US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90108" y="4969057"/>
            <a:ext cx="1845310" cy="378460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汇报人：王冬</a:t>
            </a:r>
            <a:r>
              <a:rPr kumimoji="1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</a:t>
            </a:r>
            <a:endParaRPr kumimoji="1" lang="zh-CN" altLang="en-US" sz="1865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278505" y="2888615"/>
            <a:ext cx="6296025" cy="1198880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基于图像-点云融合的多尺度目标识别与量化方法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3390108" y="4166691"/>
            <a:ext cx="670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1" y="1552169"/>
            <a:ext cx="2387969" cy="3826419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chemeClr val="accent1"/>
          </a:solidFill>
          <a:ln w="5" cap="flat">
            <a:solidFill>
              <a:schemeClr val="accent1"/>
            </a:solidFill>
            <a:prstDash val="solid"/>
            <a:miter lim="800000"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2296560" y="2937549"/>
            <a:ext cx="182819" cy="2259004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90108" y="1625260"/>
            <a:ext cx="4741790" cy="118391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16196" y="820758"/>
            <a:ext cx="5216484" cy="5216484"/>
          </a:xfrm>
          <a:prstGeom prst="rect">
            <a:avLst/>
          </a:prstGeom>
        </p:spPr>
      </p:pic>
      <p:sp>
        <p:nvSpPr>
          <p:cNvPr id="2" name="TextBox 5"/>
          <p:cNvSpPr txBox="1"/>
          <p:nvPr/>
        </p:nvSpPr>
        <p:spPr>
          <a:xfrm>
            <a:off x="3390108" y="5378588"/>
            <a:ext cx="2386330" cy="37846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汇报日期：</a:t>
            </a:r>
            <a:r>
              <a:rPr lang="en-US" altLang="zh-CN" sz="18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2026.7.1</a:t>
            </a:r>
            <a:endParaRPr kumimoji="0" lang="en-US" altLang="zh-CN" sz="1865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526" y="835349"/>
            <a:ext cx="3272286" cy="5370078"/>
          </a:xfrm>
          <a:prstGeom prst="rect">
            <a:avLst/>
          </a:prstGeom>
        </p:spPr>
      </p:pic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5596425" y="912020"/>
            <a:ext cx="3938452" cy="742319"/>
            <a:chOff x="5505994" y="1029586"/>
            <a:chExt cx="3938452" cy="742319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5505994" y="1502229"/>
              <a:ext cx="646612" cy="175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30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331132" y="1155569"/>
              <a:ext cx="3113314" cy="553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9" rIns="121917" bIns="60959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研究背景及意义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5"/>
              </p:custDataLst>
            </p:nvPr>
          </p:nvSpPr>
          <p:spPr>
            <a:xfrm>
              <a:off x="5505994" y="1029586"/>
              <a:ext cx="724989" cy="742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3600" dirty="0">
                  <a:solidFill>
                    <a:srgbClr val="003B90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01</a:t>
              </a:r>
              <a:endParaRPr lang="zh-CN" altLang="en-US" sz="3600" dirty="0">
                <a:solidFill>
                  <a:srgbClr val="003B90"/>
                </a:solidFill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6"/>
            </p:custDataLst>
          </p:nvPr>
        </p:nvGrpSpPr>
        <p:grpSpPr>
          <a:xfrm>
            <a:off x="5596425" y="1802803"/>
            <a:ext cx="5158740" cy="742319"/>
            <a:chOff x="5505994" y="1029586"/>
            <a:chExt cx="5158740" cy="742319"/>
          </a:xfrm>
        </p:grpSpPr>
        <p:sp>
          <p:nvSpPr>
            <p:cNvPr id="13" name="矩形 12"/>
            <p:cNvSpPr/>
            <p:nvPr>
              <p:custDataLst>
                <p:tags r:id="rId7"/>
              </p:custDataLst>
            </p:nvPr>
          </p:nvSpPr>
          <p:spPr>
            <a:xfrm>
              <a:off x="5505994" y="1502229"/>
              <a:ext cx="646612" cy="175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30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330859" y="1155316"/>
              <a:ext cx="4333875" cy="551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9" rIns="121917" bIns="60959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多源数据与技术路线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9"/>
              </p:custDataLst>
            </p:nvPr>
          </p:nvSpPr>
          <p:spPr>
            <a:xfrm>
              <a:off x="5505994" y="1029586"/>
              <a:ext cx="724989" cy="742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3600" dirty="0">
                  <a:solidFill>
                    <a:srgbClr val="003B90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02</a:t>
              </a:r>
              <a:endParaRPr lang="zh-CN" altLang="en-US" sz="3600" dirty="0">
                <a:solidFill>
                  <a:srgbClr val="003B90"/>
                </a:solidFill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10"/>
            </p:custDataLst>
          </p:nvPr>
        </p:nvGrpSpPr>
        <p:grpSpPr>
          <a:xfrm>
            <a:off x="5596425" y="2693585"/>
            <a:ext cx="6038850" cy="742319"/>
            <a:chOff x="5505994" y="1029586"/>
            <a:chExt cx="6038850" cy="742319"/>
          </a:xfrm>
        </p:grpSpPr>
        <p:sp>
          <p:nvSpPr>
            <p:cNvPr id="17" name="矩形 16"/>
            <p:cNvSpPr/>
            <p:nvPr>
              <p:custDataLst>
                <p:tags r:id="rId11"/>
              </p:custDataLst>
            </p:nvPr>
          </p:nvSpPr>
          <p:spPr>
            <a:xfrm>
              <a:off x="5505994" y="1502229"/>
              <a:ext cx="646612" cy="175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30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330859" y="1155316"/>
              <a:ext cx="5213985" cy="551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9" rIns="121917" bIns="60959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多尺度自适应切片策略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3"/>
              </p:custDataLst>
            </p:nvPr>
          </p:nvSpPr>
          <p:spPr>
            <a:xfrm>
              <a:off x="5505994" y="1029586"/>
              <a:ext cx="724989" cy="742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3600" dirty="0">
                  <a:solidFill>
                    <a:srgbClr val="003B90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03</a:t>
              </a:r>
              <a:endParaRPr lang="zh-CN" altLang="en-US" sz="3600" dirty="0">
                <a:solidFill>
                  <a:srgbClr val="003B90"/>
                </a:solidFill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4"/>
            </p:custDataLst>
          </p:nvPr>
        </p:nvGrpSpPr>
        <p:grpSpPr>
          <a:xfrm>
            <a:off x="5596425" y="3584369"/>
            <a:ext cx="6038850" cy="742319"/>
            <a:chOff x="5505994" y="1029586"/>
            <a:chExt cx="6038850" cy="742319"/>
          </a:xfrm>
        </p:grpSpPr>
        <p:sp>
          <p:nvSpPr>
            <p:cNvPr id="21" name="矩形 20"/>
            <p:cNvSpPr/>
            <p:nvPr>
              <p:custDataLst>
                <p:tags r:id="rId15"/>
              </p:custDataLst>
            </p:nvPr>
          </p:nvSpPr>
          <p:spPr>
            <a:xfrm>
              <a:off x="5505994" y="1502229"/>
              <a:ext cx="646612" cy="175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30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330859" y="1155316"/>
              <a:ext cx="5213985" cy="551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9" rIns="121917" bIns="60959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目标检测与多尺度推理融合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7"/>
              </p:custDataLst>
            </p:nvPr>
          </p:nvSpPr>
          <p:spPr>
            <a:xfrm>
              <a:off x="5505994" y="1029586"/>
              <a:ext cx="724989" cy="742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3600" dirty="0">
                  <a:solidFill>
                    <a:srgbClr val="003B90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04</a:t>
              </a:r>
              <a:endParaRPr lang="zh-CN" altLang="en-US" sz="3600" dirty="0">
                <a:solidFill>
                  <a:srgbClr val="003B90"/>
                </a:solidFill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矩形 24"/>
          <p:cNvSpPr/>
          <p:nvPr>
            <p:custDataLst>
              <p:tags r:id="rId18"/>
            </p:custDataLst>
          </p:nvPr>
        </p:nvSpPr>
        <p:spPr>
          <a:xfrm>
            <a:off x="5596425" y="4947794"/>
            <a:ext cx="646612" cy="1755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9"/>
            </p:custDataLst>
          </p:nvPr>
        </p:nvSpPr>
        <p:spPr>
          <a:xfrm>
            <a:off x="5596425" y="4475151"/>
            <a:ext cx="724989" cy="742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600" dirty="0">
                <a:solidFill>
                  <a:srgbClr val="003B90"/>
                </a:solidFill>
                <a:latin typeface="+mj-ea"/>
                <a:ea typeface="+mj-ea"/>
                <a:cs typeface="Times New Roman" panose="02020603050405020304" pitchFamily="18" charset="0"/>
              </a:rPr>
              <a:t>05</a:t>
            </a:r>
            <a:endParaRPr lang="zh-CN" altLang="en-US" sz="3600" dirty="0">
              <a:solidFill>
                <a:srgbClr val="003B9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28" name="组合 27"/>
          <p:cNvGrpSpPr/>
          <p:nvPr>
            <p:custDataLst>
              <p:tags r:id="rId20"/>
            </p:custDataLst>
          </p:nvPr>
        </p:nvGrpSpPr>
        <p:grpSpPr>
          <a:xfrm>
            <a:off x="5596425" y="5365934"/>
            <a:ext cx="3938452" cy="742319"/>
            <a:chOff x="5505994" y="1029586"/>
            <a:chExt cx="3938452" cy="742319"/>
          </a:xfrm>
        </p:grpSpPr>
        <p:sp>
          <p:nvSpPr>
            <p:cNvPr id="29" name="矩形 28"/>
            <p:cNvSpPr/>
            <p:nvPr>
              <p:custDataLst>
                <p:tags r:id="rId21"/>
              </p:custDataLst>
            </p:nvPr>
          </p:nvSpPr>
          <p:spPr>
            <a:xfrm>
              <a:off x="5505994" y="1502229"/>
              <a:ext cx="646612" cy="175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30"/>
            <p:cNvSpPr>
              <a:spLocks noChangeArrowheads="1"/>
            </p:cNvSpPr>
            <p:nvPr/>
          </p:nvSpPr>
          <p:spPr bwMode="auto">
            <a:xfrm>
              <a:off x="6331132" y="1155569"/>
              <a:ext cx="3113314" cy="553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9" rIns="121917" bIns="60959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22"/>
              </p:custDataLst>
            </p:nvPr>
          </p:nvSpPr>
          <p:spPr>
            <a:xfrm>
              <a:off x="5505994" y="1029586"/>
              <a:ext cx="724989" cy="742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3600" dirty="0">
                  <a:solidFill>
                    <a:srgbClr val="003B90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06</a:t>
              </a:r>
              <a:endParaRPr lang="zh-CN" altLang="en-US" sz="3600" dirty="0">
                <a:solidFill>
                  <a:srgbClr val="003B90"/>
                </a:solidFill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矩形 30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421925" y="4665774"/>
            <a:ext cx="5213985" cy="551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D→3D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映射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" name="矩形 30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548925" y="5556679"/>
            <a:ext cx="5213985" cy="551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进度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安排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8" y="2692405"/>
            <a:ext cx="4493538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研究背景及意义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组合 93"/>
          <p:cNvGrpSpPr/>
          <p:nvPr/>
        </p:nvGrpSpPr>
        <p:grpSpPr>
          <a:xfrm>
            <a:off x="1316843" y="2174092"/>
            <a:ext cx="7611503" cy="2052954"/>
            <a:chOff x="2954339" y="1547045"/>
            <a:chExt cx="10919072" cy="1449088"/>
          </a:xfrm>
        </p:grpSpPr>
        <p:sp>
          <p:nvSpPr>
            <p:cNvPr id="95" name="矩形 94"/>
            <p:cNvSpPr>
              <a:spLocks noChangeArrowheads="1"/>
            </p:cNvSpPr>
            <p:nvPr/>
          </p:nvSpPr>
          <p:spPr bwMode="auto">
            <a:xfrm>
              <a:off x="2954339" y="1694800"/>
              <a:ext cx="7162269" cy="26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6" name="矩形 95">
              <a:hlinkClick r:id="rId1" action="ppaction://hlinksldjump"/>
            </p:cNvPr>
            <p:cNvSpPr/>
            <p:nvPr/>
          </p:nvSpPr>
          <p:spPr>
            <a:xfrm>
              <a:off x="2954902" y="1547045"/>
              <a:ext cx="10918509" cy="14490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 </a:t>
              </a:r>
              <a:r>
                <a:rPr lang="zh-CN" altLang="en-US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大场景高分辨率影像无法直接输入检测网络</a:t>
              </a:r>
              <a:r>
                <a:rPr lang="en-US" altLang="zh-CN" sz="2400" baseline="30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[1]</a:t>
              </a:r>
              <a:endPara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</a:t>
              </a:r>
              <a:r>
                <a:rPr lang="zh-CN" altLang="en-US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单一数据模态存在固有局限，影像-点云融合是趋势</a:t>
              </a:r>
              <a:r>
                <a:rPr lang="en-US" altLang="zh-CN" sz="2400" baseline="30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[2]</a:t>
              </a:r>
              <a:endParaRPr lang="en-US" altLang="zh-CN" sz="24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3.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矿区石块检测与体积量化具有明确工程需求</a:t>
              </a:r>
              <a:r>
                <a:rPr kumimoji="0" lang="en-US" altLang="zh-CN" sz="24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[3]</a:t>
              </a:r>
              <a:endPara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6077614" y="4635239"/>
            <a:ext cx="6115050" cy="1851025"/>
            <a:chOff x="720557" y="3600987"/>
            <a:chExt cx="4383015" cy="1306555"/>
          </a:xfrm>
        </p:grpSpPr>
        <p:sp>
          <p:nvSpPr>
            <p:cNvPr id="101" name="TextBox 100"/>
            <p:cNvSpPr txBox="1"/>
            <p:nvPr/>
          </p:nvSpPr>
          <p:spPr>
            <a:xfrm>
              <a:off x="789157" y="3600987"/>
              <a:ext cx="720631" cy="238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参考文献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720557" y="3800444"/>
              <a:ext cx="4383015" cy="11070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defTabSz="457200">
                <a:defRPr/>
              </a:pPr>
              <a:r>
                <a:rPr lang="en-US" altLang="zh-CN" sz="1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[1] Akyon et al. SAHI: Slicing Aided Hyper Inference and Fine-tuning for Small Object Detection. IEEE ICIP, 2022. </a:t>
              </a:r>
              <a:endParaRPr lang="en-US" altLang="zh-CN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defTabSz="457200"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[</a:t>
              </a:r>
              <a:r>
                <a:rPr lang="en-US" altLang="zh-CN" sz="1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2] Tang et al. Vision-based Size Distribution Analysis of Rock Fragments Using Multimodal Deep Learning and Interactive Annotation. Automation in Construction, 2024.</a:t>
              </a:r>
              <a:endParaRPr lang="en-US" altLang="zh-CN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defTabSz="457200">
                <a:defRPr/>
              </a:pPr>
              <a:r>
                <a:rPr lang="en-US" altLang="zh-CN" sz="1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[3] Edelsbrunner et al. Three-dimensional Alpha Shapes. ACM Transactions on Graphics, 1994.</a:t>
              </a:r>
              <a:endParaRPr lang="en-US" altLang="zh-CN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defTabSz="457200"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634918" y="237124"/>
            <a:ext cx="1989455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研究背景 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87472" y="1479925"/>
            <a:ext cx="76089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0" i="0" dirty="0">
                <a:solidFill>
                  <a:srgbClr val="191B1F"/>
                </a:solidFill>
                <a:effectLst/>
                <a:latin typeface="-apple-system"/>
              </a:rPr>
              <a:t>研究背景设置的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latin typeface="-apple-system"/>
              </a:rPr>
              <a:t>核心目的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-apple-system"/>
              </a:rPr>
              <a:t>：</a:t>
            </a:r>
            <a:endParaRPr lang="zh-CN" altLang="en-US" sz="2000" dirty="0"/>
          </a:p>
        </p:txBody>
      </p:sp>
      <p:sp>
        <p:nvSpPr>
          <p:cNvPr id="4" name="矩形: 圆角 3"/>
          <p:cNvSpPr/>
          <p:nvPr/>
        </p:nvSpPr>
        <p:spPr>
          <a:xfrm>
            <a:off x="823595" y="5353050"/>
            <a:ext cx="1520190" cy="295275"/>
          </a:xfrm>
          <a:prstGeom prst="roundRect">
            <a:avLst>
              <a:gd name="adj" fmla="val 50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+mj-ea"/>
                <a:ea typeface="+mj-ea"/>
              </a:rPr>
              <a:t>多尺度感知</a:t>
            </a:r>
            <a:endParaRPr lang="zh-CN" altLang="en-US" sz="1600" b="1" dirty="0">
              <a:latin typeface="+mj-ea"/>
              <a:ea typeface="+mj-ea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2630805" y="5353050"/>
            <a:ext cx="1537335" cy="295275"/>
          </a:xfrm>
          <a:prstGeom prst="roundRect">
            <a:avLst>
              <a:gd name="adj" fmla="val 50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+mj-ea"/>
                <a:ea typeface="+mj-ea"/>
              </a:rPr>
              <a:t>跨模态融合</a:t>
            </a:r>
            <a:endParaRPr lang="zh-CN" altLang="en-US" sz="1600" b="1" dirty="0">
              <a:latin typeface="+mj-ea"/>
              <a:ea typeface="+mj-ea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4363085" y="5353050"/>
            <a:ext cx="1520190" cy="295275"/>
          </a:xfrm>
          <a:prstGeom prst="roundRect">
            <a:avLst>
              <a:gd name="adj" fmla="val 50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+mj-ea"/>
                <a:ea typeface="+mj-ea"/>
              </a:rPr>
              <a:t>三维量化</a:t>
            </a:r>
            <a:endParaRPr lang="zh-CN" altLang="en-US" sz="1600" b="1" dirty="0"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研究意义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" name="矩形: 对角圆角 2"/>
          <p:cNvSpPr/>
          <p:nvPr>
            <p:custDataLst>
              <p:tags r:id="rId1"/>
            </p:custDataLst>
          </p:nvPr>
        </p:nvSpPr>
        <p:spPr>
          <a:xfrm>
            <a:off x="561974" y="1681269"/>
            <a:ext cx="4972050" cy="485562"/>
          </a:xfrm>
          <a:prstGeom prst="round2DiagRect">
            <a:avLst>
              <a:gd name="adj1" fmla="val 4609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5293" y="1723995"/>
            <a:ext cx="19800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基础研究的意义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4944597" y="1723995"/>
            <a:ext cx="5020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561974" y="2209557"/>
            <a:ext cx="48101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6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PointNet</a:t>
            </a:r>
            <a:r>
              <a:rPr lang="zh-CN" altLang="en-US" sz="16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等点云深度学习方法奠定了三维感知基础，但多聚焦于单模态单尺度。本文提出双重多尺度策略——切片层四叉树自适应（减少60%切片量）+ 检测层640/1024/1280三级推理融合（提升16.8%检测率），丰富了多尺度跨模态感知的方法论。</a:t>
            </a:r>
            <a:r>
              <a:rPr lang="en-US" altLang="zh-CN" sz="16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[5]</a:t>
            </a:r>
            <a:endParaRPr lang="zh-CN" altLang="en-US" sz="1600" dirty="0"/>
          </a:p>
        </p:txBody>
      </p:sp>
      <p:sp>
        <p:nvSpPr>
          <p:cNvPr id="16" name="矩形: 对角圆角 15"/>
          <p:cNvSpPr/>
          <p:nvPr>
            <p:custDataLst>
              <p:tags r:id="rId5"/>
            </p:custDataLst>
          </p:nvPr>
        </p:nvSpPr>
        <p:spPr>
          <a:xfrm>
            <a:off x="561974" y="3148119"/>
            <a:ext cx="4972050" cy="485562"/>
          </a:xfrm>
          <a:prstGeom prst="round2DiagRect">
            <a:avLst>
              <a:gd name="adj1" fmla="val 4609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715293" y="3190845"/>
            <a:ext cx="19800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实际应用的意义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4944597" y="3190845"/>
            <a:ext cx="5020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561974" y="3676407"/>
            <a:ext cx="4810125" cy="71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露天矿区石块检测与体积量化有明确工程需求。本文在真实矿区数据上取得326块石头的检测结果（直径1.50~4.98</a:t>
            </a:r>
            <a:r>
              <a:rPr lang="en-US" altLang="zh-CN" sz="16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m），</a:t>
            </a:r>
            <a:r>
              <a:rPr lang="zh-CN" altLang="en-US" sz="16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实现了从二维影像检测到三维体积估算的端到端自动化流程，直接服务于矿山数字化生产管理。</a:t>
            </a:r>
            <a:r>
              <a:rPr lang="en-US" altLang="zh-CN" sz="16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[6]</a:t>
            </a:r>
            <a:endParaRPr lang="zh-CN" altLang="en-US" sz="1600" dirty="0"/>
          </a:p>
        </p:txBody>
      </p:sp>
      <p:sp>
        <p:nvSpPr>
          <p:cNvPr id="21" name="矩形: 对角圆角 20"/>
          <p:cNvSpPr/>
          <p:nvPr>
            <p:custDataLst>
              <p:tags r:id="rId9"/>
            </p:custDataLst>
          </p:nvPr>
        </p:nvSpPr>
        <p:spPr>
          <a:xfrm>
            <a:off x="561974" y="4614969"/>
            <a:ext cx="4972050" cy="485562"/>
          </a:xfrm>
          <a:prstGeom prst="round2DiagRect">
            <a:avLst>
              <a:gd name="adj1" fmla="val 4609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715293" y="4657695"/>
            <a:ext cx="19800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技术发展的意义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4944597" y="4657695"/>
            <a:ext cx="5020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561974" y="5143257"/>
            <a:ext cx="48101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6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SAHI</a:t>
            </a:r>
            <a:r>
              <a:rPr lang="zh-CN" altLang="en-US" sz="16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等固定网格切片计算冗余大。本文四叉树自适应切片在100%覆盖前提下，切片量减少60%（320→129）、速度提升3.2倍（4.79</a:t>
            </a:r>
            <a:r>
              <a:rPr lang="en-US" altLang="zh-CN" sz="16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s→1.50s），</a:t>
            </a:r>
            <a:r>
              <a:rPr lang="zh-CN" altLang="en-US" sz="16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检测性能几乎持平（458 </a:t>
            </a:r>
            <a:r>
              <a:rPr lang="en-US" altLang="zh-CN" sz="16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445）。</a:t>
            </a:r>
            <a:r>
              <a:rPr lang="zh-CN" altLang="en-US" sz="16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为大规模遥感影像的高效处理提供了可行技术路径。</a:t>
            </a:r>
            <a:r>
              <a:rPr lang="en-US" altLang="zh-CN" sz="1600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[7]</a:t>
            </a:r>
            <a:endParaRPr lang="zh-CN" altLang="en-US" sz="1600" dirty="0"/>
          </a:p>
        </p:txBody>
      </p:sp>
      <p:grpSp>
        <p:nvGrpSpPr>
          <p:cNvPr id="4" name="组合 3"/>
          <p:cNvGrpSpPr/>
          <p:nvPr/>
        </p:nvGrpSpPr>
        <p:grpSpPr>
          <a:xfrm>
            <a:off x="2967036" y="5886673"/>
            <a:ext cx="6991349" cy="927736"/>
            <a:chOff x="789157" y="3600987"/>
            <a:chExt cx="5011110" cy="654846"/>
          </a:xfrm>
        </p:grpSpPr>
        <p:sp>
          <p:nvSpPr>
            <p:cNvPr id="7" name="TextBox 100"/>
            <p:cNvSpPr txBox="1"/>
            <p:nvPr/>
          </p:nvSpPr>
          <p:spPr>
            <a:xfrm>
              <a:off x="789157" y="3600987"/>
              <a:ext cx="720631" cy="238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参考文献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>
              <a:hlinkClick r:id="rId13" action="ppaction://hlinksldjump"/>
            </p:cNvPr>
            <p:cNvSpPr/>
            <p:nvPr/>
          </p:nvSpPr>
          <p:spPr>
            <a:xfrm>
              <a:off x="812369" y="3800444"/>
              <a:ext cx="4987898" cy="4553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defTabSz="457200">
                <a:defRPr/>
              </a:pPr>
              <a:r>
                <a:rPr lang="en-US" altLang="zh-CN" sz="1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[5] PointNet, CVPR 2017 | [2] PointNet++, NeurIPS 2017</a:t>
              </a:r>
              <a:endParaRPr lang="en-US" altLang="zh-CN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defTabSz="457200"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[6</a:t>
              </a:r>
              <a:r>
                <a:rPr lang="en-US" altLang="zh-CN" sz="1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] Tang et al., Automation in Construction, 2024 | [34] Yi et al., Scientific Reports, 2025</a:t>
              </a:r>
              <a:endParaRPr lang="en-US" altLang="zh-CN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defTabSz="457200">
                <a:defRPr/>
              </a:pPr>
              <a:r>
                <a:rPr lang="en-US" altLang="zh-CN" sz="1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[7] Akyon et al. SAHI. IEEE ICIP, 2022.</a:t>
              </a:r>
              <a:endParaRPr lang="en-US" altLang="zh-CN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08345" y="1892300"/>
            <a:ext cx="6023610" cy="3072765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lang="en-US" altLang="zh-CN" sz="7200" b="1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rPr>
              <a:t>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8" y="2692405"/>
            <a:ext cx="5669280" cy="829945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多源数据与技术路线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634918" y="237124"/>
            <a:ext cx="39001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多源数据与技术路线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3" name="等腰三角形 22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" name="圆角矩形 11"/>
          <p:cNvSpPr/>
          <p:nvPr/>
        </p:nvSpPr>
        <p:spPr>
          <a:xfrm>
            <a:off x="515620" y="4294505"/>
            <a:ext cx="3930015" cy="1228090"/>
          </a:xfrm>
          <a:prstGeom prst="roundRect">
            <a:avLst>
              <a:gd name="adj" fmla="val 3704"/>
            </a:avLst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圆角矩形 11"/>
          <p:cNvSpPr/>
          <p:nvPr/>
        </p:nvSpPr>
        <p:spPr>
          <a:xfrm>
            <a:off x="339827" y="1131782"/>
            <a:ext cx="4279158" cy="2487793"/>
          </a:xfrm>
          <a:prstGeom prst="roundRect">
            <a:avLst>
              <a:gd name="adj" fmla="val 3704"/>
            </a:avLst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814599" y="1048190"/>
            <a:ext cx="1223554" cy="24574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数据来源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420200" y="1305016"/>
            <a:ext cx="4119793" cy="581401"/>
          </a:xfrm>
          <a:prstGeom prst="roundRect">
            <a:avLst>
              <a:gd name="adj" fmla="val 4610"/>
            </a:avLst>
          </a:prstGeom>
          <a:solidFill>
            <a:schemeClr val="accent1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indent="0" algn="ctr"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OSGB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三维模型（摄影测量建模）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461302" y="1937424"/>
          <a:ext cx="4108289" cy="1577218"/>
        </p:xfrm>
        <a:graphic>
          <a:graphicData uri="http://schemas.openxmlformats.org/drawingml/2006/table">
            <a:tbl>
              <a:tblPr firstRow="1" firstCol="1" bandRow="1"/>
              <a:tblGrid>
                <a:gridCol w="1924832"/>
                <a:gridCol w="2183457"/>
              </a:tblGrid>
              <a:tr h="276185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tabLst>
                          <a:tab pos="4053840" algn="l"/>
                        </a:tabLst>
                      </a:pPr>
                      <a:r>
                        <a:rPr lang="zh-CN" altLang="en-US" sz="1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正射影像（</a:t>
                      </a:r>
                      <a:r>
                        <a:rPr lang="en-US" altLang="zh-CN" sz="1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DOM）</a:t>
                      </a:r>
                      <a:endParaRPr lang="en-US" altLang="zh-CN" sz="1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tabLst>
                          <a:tab pos="4053840" algn="l"/>
                        </a:tabLst>
                      </a:pPr>
                      <a:r>
                        <a:rPr lang="zh-CN" altLang="en-US" sz="1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密集匹配点云（</a:t>
                      </a:r>
                      <a:r>
                        <a:rPr lang="en-US" altLang="zh-CN" sz="1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LAZ）</a:t>
                      </a:r>
                      <a:endParaRPr lang="en-US" altLang="zh-CN" sz="1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10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053840" algn="l"/>
                        </a:tabLst>
                        <a:defRPr/>
                      </a:pPr>
                      <a:endParaRPr lang="en-US" alt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053840" algn="l"/>
                        </a:tabLst>
                        <a:defRPr/>
                      </a:pPr>
                      <a:r>
                        <a:rPr lang="en-US" alt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0.01m/px</a:t>
                      </a:r>
                      <a:endParaRPr lang="en-US" alt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053840" algn="l"/>
                        </a:tabLst>
                        <a:defRPr/>
                      </a:pPr>
                      <a:r>
                        <a:rPr lang="zh-CN" alt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覆盖72.7</a:t>
                      </a:r>
                      <a:r>
                        <a:rPr lang="en-US" alt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m×227.3m</a:t>
                      </a:r>
                      <a:endParaRPr lang="en-US" alt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053840" algn="l"/>
                        </a:tabLst>
                        <a:defRPr/>
                      </a:pPr>
                      <a:endParaRPr lang="en-US" alt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053840" algn="l"/>
                        </a:tabLst>
                        <a:defRPr/>
                      </a:pPr>
                      <a:r>
                        <a:rPr lang="en-US" alt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BlockB + BlockY</a:t>
                      </a:r>
                      <a:endParaRPr lang="en-US" alt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053840" algn="l"/>
                        </a:tabLst>
                        <a:defRPr/>
                      </a:pPr>
                      <a:r>
                        <a:rPr lang="zh-CN" alt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约1.87亿点</a:t>
                      </a:r>
                      <a:endParaRPr lang="zh-CN" altLang="en-US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76" name="圆角矩形 11"/>
          <p:cNvSpPr/>
          <p:nvPr/>
        </p:nvSpPr>
        <p:spPr>
          <a:xfrm>
            <a:off x="6501765" y="1012190"/>
            <a:ext cx="4632960" cy="5288915"/>
          </a:xfrm>
          <a:prstGeom prst="roundRect">
            <a:avLst>
              <a:gd name="adj" fmla="val 1766"/>
            </a:avLst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6668770" y="1296035"/>
            <a:ext cx="4298950" cy="668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just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多尺度切片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SAHI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固定滑窗（320 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tiles） vs 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四叉树自适应（129 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tiles）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3" name="直接箭头连接符 102"/>
          <p:cNvCxnSpPr/>
          <p:nvPr/>
        </p:nvCxnSpPr>
        <p:spPr>
          <a:xfrm>
            <a:off x="8818372" y="3299731"/>
            <a:ext cx="0" cy="3337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本框 129"/>
          <p:cNvSpPr txBox="1"/>
          <p:nvPr/>
        </p:nvSpPr>
        <p:spPr>
          <a:xfrm>
            <a:off x="7913019" y="883099"/>
            <a:ext cx="1455038" cy="24574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技术路线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4" name="直接箭头连接符 143"/>
          <p:cNvCxnSpPr/>
          <p:nvPr/>
        </p:nvCxnSpPr>
        <p:spPr>
          <a:xfrm>
            <a:off x="4852720" y="2674890"/>
            <a:ext cx="1414780" cy="6985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本框 146"/>
          <p:cNvSpPr txBox="1"/>
          <p:nvPr/>
        </p:nvSpPr>
        <p:spPr>
          <a:xfrm>
            <a:off x="1814105" y="3929284"/>
            <a:ext cx="1223554" cy="24574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关键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优势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1680" y="4534535"/>
            <a:ext cx="3130550" cy="650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影像与点云同源导出，坐标系统一无需多传感器配准，融合精度天然保障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>
            <a:off x="8818372" y="1998616"/>
            <a:ext cx="0" cy="3337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6602095" y="2481580"/>
            <a:ext cx="4462145" cy="668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just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目标检测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YOLOv11-seg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实例分割 + 多尺度推理融合（640/1024/1280）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8818372" y="4600846"/>
            <a:ext cx="0" cy="3337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6804660" y="3782695"/>
            <a:ext cx="4047490" cy="668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just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跨切片融合去重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启发式合并（距离+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IoU） vs 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相关聚类（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Pivot 3-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近似）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143750" y="4968240"/>
            <a:ext cx="3436620" cy="668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just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2D→3D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映射与三维量化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RLE mask → 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多边形 → 点云裁剪 → 体积估算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8" y="2692405"/>
            <a:ext cx="6278880" cy="829945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多尺度自适应切片策略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634918" y="237124"/>
            <a:ext cx="18681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lvl="0" algn="l" defTabSz="457200">
              <a:buNone/>
              <a:defRPr/>
            </a:pPr>
            <a:r>
              <a:rPr lang="zh-CN" altLang="en-US" b="1" dirty="0">
                <a:solidFill>
                  <a:schemeClr val="accent1"/>
                </a:solidFill>
                <a:latin typeface="Arial" panose="020B0604020202020204" pitchFamily="34" charset="0"/>
              </a:rPr>
              <a:t>切片策略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8091170" y="2346960"/>
            <a:ext cx="2377440" cy="5048250"/>
          </a:xfrm>
          <a:prstGeom prst="rect">
            <a:avLst/>
          </a:prstGeom>
        </p:spPr>
      </p:pic>
      <p:graphicFrame>
        <p:nvGraphicFramePr>
          <p:cNvPr id="6" name="Table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305560" y="931545"/>
          <a:ext cx="958024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3415"/>
                <a:gridCol w="3193415"/>
                <a:gridCol w="3193415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SAHI 固定滑窗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四叉树自适应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1024x1024 固定网格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Canny边缘密度驱动分裂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切片总数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129 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有效切片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235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11</a:t>
                      </a:r>
                      <a:r>
                        <a:rPr lang="en-US"/>
                        <a:t>7</a:t>
                      </a:r>
                      <a:endParaRPr lang="en-US"/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4.79s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1.50s 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覆盖度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92325" y="2258695"/>
            <a:ext cx="2422525" cy="52698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634615" y="6214745"/>
            <a:ext cx="133794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SAHI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固定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滑窗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611235" y="6104890"/>
            <a:ext cx="133794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四叉树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自适应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lang="en-US" altLang="zh-CN" sz="7200" b="1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rPr>
              <a:t>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8" y="2692405"/>
            <a:ext cx="6278880" cy="706755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目标检测与多尺度推理融合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研究进展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392135" y="768190"/>
            <a:ext cx="2240190" cy="490522"/>
          </a:xfrm>
          <a:prstGeom prst="roundRect">
            <a:avLst>
              <a:gd name="adj" fmla="val 461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522945" y="3447796"/>
            <a:ext cx="2253008" cy="490522"/>
          </a:xfrm>
          <a:prstGeom prst="roundRect">
            <a:avLst>
              <a:gd name="adj" fmla="val 461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6958965" y="1847850"/>
            <a:ext cx="4918075" cy="3689985"/>
          </a:xfrm>
          <a:prstGeom prst="roundRect">
            <a:avLst>
              <a:gd name="adj" fmla="val 461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285750" indent="-285750" algn="l">
              <a:lnSpc>
                <a:spcPct val="135000"/>
              </a:lnSpc>
              <a:buFont typeface="Wingdings" panose="05000000000000000000" pitchFamily="2" charset="2"/>
              <a:buChar char="Ø"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35000"/>
              </a:lnSpc>
              <a:buFont typeface="Wingdings" panose="05000000000000000000" pitchFamily="2" charset="2"/>
              <a:buChar char="Ø"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35000"/>
              </a:lnSpc>
              <a:buFont typeface="Wingdings" panose="05000000000000000000" pitchFamily="2" charset="2"/>
              <a:buChar char="Ø"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35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初步结果：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 多尺度检测提升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l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SAHI：458 → 535（+16.8%）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l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四叉树：445 → 512（+15.1%）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② 四叉树检测效率最高单尺度仅 152.2 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35000"/>
              </a:lnSpc>
              <a:buFont typeface="Wingdings" panose="05000000000000000000" pitchFamily="2" charset="2"/>
              <a:buNone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35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说明：平均每 1.6 个检测框最终融合为一个目标，说明重复检测现象较明显，融合算法能够有效去除重复框。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4820" y="1258570"/>
          <a:ext cx="610743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810"/>
                <a:gridCol w="2035810"/>
                <a:gridCol w="203581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/>
                        <a:t>切片方式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/>
                        <a:t>检测模式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/>
                        <a:t>检测数量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solidFill>
                      <a:srgbClr val="1B3A5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SAHI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/>
                        <a:t>单尺度（</a:t>
                      </a:r>
                      <a:r>
                        <a:rPr lang="en-US" altLang="zh-CN" sz="1100"/>
                        <a:t>1024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458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SAHI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/>
                        <a:t>多尺度（</a:t>
                      </a:r>
                      <a:r>
                        <a:rPr lang="en-US" altLang="zh-CN" sz="1100"/>
                        <a:t>640+1024+1280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535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/>
                        <a:t>四叉树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/>
                        <a:t>单尺度（</a:t>
                      </a:r>
                      <a:r>
                        <a:rPr lang="en-US" altLang="zh-CN" sz="1100"/>
                        <a:t>1024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445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/>
                        <a:t>四叉树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/>
                        <a:t>多尺度（</a:t>
                      </a:r>
                      <a:r>
                        <a:rPr lang="en-US" altLang="zh-CN" sz="1100"/>
                        <a:t>640+1024+1280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512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683180" y="267570"/>
            <a:ext cx="34800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ct val="20000"/>
              </a:spcBef>
              <a:defRPr/>
            </a:pPr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切片</a:t>
            </a:r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后目标检测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4185" y="3896360"/>
          <a:ext cx="610743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810"/>
                <a:gridCol w="2035810"/>
                <a:gridCol w="203581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/>
                        <a:t>方法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/>
                        <a:t>面积范围</a:t>
                      </a:r>
                      <a:r>
                        <a:rPr lang="en-US" altLang="zh-CN" sz="1100"/>
                        <a:t>(m²)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/>
                        <a:t>直径范围</a:t>
                      </a:r>
                      <a:r>
                        <a:rPr lang="en-US" altLang="zh-CN" sz="1100"/>
                        <a:t>(m)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solidFill>
                      <a:srgbClr val="1B3A5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SAHI </a:t>
                      </a:r>
                      <a:r>
                        <a:rPr lang="zh-CN" altLang="en-US" sz="1100"/>
                        <a:t>单尺度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1.77 </a:t>
                      </a:r>
                      <a:r>
                        <a:rPr lang="zh-CN" altLang="en-US" sz="1100"/>
                        <a:t>～ </a:t>
                      </a:r>
                      <a:r>
                        <a:rPr lang="en-US" altLang="zh-CN" sz="1100"/>
                        <a:t>19.47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1.50 </a:t>
                      </a:r>
                      <a:r>
                        <a:rPr lang="zh-CN" altLang="en-US" sz="1100"/>
                        <a:t>～ </a:t>
                      </a:r>
                      <a:r>
                        <a:rPr lang="en-US" altLang="zh-CN" sz="1100"/>
                        <a:t>4.98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SAHI </a:t>
                      </a:r>
                      <a:r>
                        <a:rPr lang="zh-CN" altLang="en-US" sz="1100"/>
                        <a:t>多尺度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1.77 </a:t>
                      </a:r>
                      <a:r>
                        <a:rPr lang="zh-CN" altLang="en-US" sz="1100"/>
                        <a:t>～ </a:t>
                      </a:r>
                      <a:r>
                        <a:rPr lang="en-US" altLang="zh-CN" sz="1100"/>
                        <a:t>13.29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1.50 </a:t>
                      </a:r>
                      <a:r>
                        <a:rPr lang="zh-CN" altLang="en-US" sz="1100"/>
                        <a:t>～ </a:t>
                      </a:r>
                      <a:r>
                        <a:rPr lang="en-US" altLang="zh-CN" sz="1100"/>
                        <a:t>4.11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/>
                        <a:t>四叉树 单尺度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1.77 </a:t>
                      </a:r>
                      <a:r>
                        <a:rPr lang="zh-CN" altLang="en-US" sz="1100"/>
                        <a:t>～ </a:t>
                      </a:r>
                      <a:r>
                        <a:rPr lang="en-US" altLang="zh-CN" sz="1100"/>
                        <a:t>11.92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1.50 </a:t>
                      </a:r>
                      <a:r>
                        <a:rPr lang="zh-CN" altLang="en-US" sz="1100"/>
                        <a:t>～ </a:t>
                      </a:r>
                      <a:r>
                        <a:rPr lang="en-US" altLang="zh-CN" sz="1100"/>
                        <a:t>3.90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/>
                        <a:t>四叉树 多尺度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1.77 </a:t>
                      </a:r>
                      <a:r>
                        <a:rPr lang="zh-CN" altLang="en-US" sz="1100"/>
                        <a:t>～ </a:t>
                      </a:r>
                      <a:r>
                        <a:rPr lang="en-US" altLang="zh-CN" sz="1100"/>
                        <a:t>12.05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1.50 </a:t>
                      </a:r>
                      <a:r>
                        <a:rPr lang="zh-CN" altLang="en-US" sz="1100"/>
                        <a:t>～ </a:t>
                      </a:r>
                      <a:r>
                        <a:rPr lang="en-US" altLang="zh-CN" sz="1100"/>
                        <a:t>3.92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研究进展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83180" y="267570"/>
            <a:ext cx="34800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ct val="20000"/>
              </a:spcBef>
              <a:defRPr/>
            </a:pPr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检测后的</a:t>
            </a:r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融合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66750" y="931545"/>
          <a:ext cx="11382375" cy="2406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475"/>
                <a:gridCol w="2276475"/>
                <a:gridCol w="2276475"/>
                <a:gridCol w="2276475"/>
                <a:gridCol w="2276475"/>
              </a:tblGrid>
              <a:tr h="26733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>
                          <a:solidFill>
                            <a:schemeClr val="bg1"/>
                          </a:solidFill>
                        </a:rPr>
                        <a:t>切片方式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>
                          <a:solidFill>
                            <a:schemeClr val="bg1"/>
                          </a:solidFill>
                        </a:rPr>
                        <a:t>检测模式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>
                          <a:solidFill>
                            <a:schemeClr val="bg1"/>
                          </a:solidFill>
                        </a:rPr>
                        <a:t>融合算法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>
                          <a:solidFill>
                            <a:schemeClr val="bg1"/>
                          </a:solidFill>
                        </a:rPr>
                        <a:t>初始检测数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>
                          <a:solidFill>
                            <a:schemeClr val="bg1"/>
                          </a:solidFill>
                        </a:rPr>
                        <a:t>融合后检测数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solidFill>
                      <a:srgbClr val="1B3A5C"/>
                    </a:solidFill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SAHI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单尺度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启发式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458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277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SAHI</a:t>
                      </a:r>
                      <a:endParaRPr sz="1300"/>
                    </a:p>
                  </a:txBody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相关聚类</a:t>
                      </a:r>
                      <a:endParaRPr sz="13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458</a:t>
                      </a:r>
                      <a:endParaRPr sz="13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274</a:t>
                      </a:r>
                      <a:endParaRPr sz="1300"/>
                    </a:p>
                  </a:txBody>
                  <a:tcPr marL="0" marR="0" marT="0" marB="0" anchor="ctr" anchorCtr="0"/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SAHI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多尺度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启发式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535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313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SAHI</a:t>
                      </a:r>
                      <a:endParaRPr sz="1300"/>
                    </a:p>
                  </a:txBody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相关聚类</a:t>
                      </a:r>
                      <a:endParaRPr sz="13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535</a:t>
                      </a:r>
                      <a:endParaRPr sz="13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312</a:t>
                      </a:r>
                      <a:endParaRPr sz="1300"/>
                    </a:p>
                  </a:txBody>
                  <a:tcPr marL="0" marR="0" marT="0" marB="0" anchor="ctr" anchorCtr="0"/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四叉树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单尺度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启发式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445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277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</a:tr>
              <a:tr h="26733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四叉树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7E8EE"/>
                    </a:solidFill>
                  </a:tcPr>
                </a:tc>
                <a:tc vMerge="1">
                  <a:tcPr marL="0" marR="0" marT="0" marB="0" anchor="ctr" anchorCtr="0">
                    <a:solidFill>
                      <a:srgbClr val="E7E8EE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相关聚类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7E8EE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445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7E8EE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281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7E8EE"/>
                    </a:solidFill>
                  </a:tcPr>
                </a:tc>
              </a:tr>
              <a:tr h="26733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四叉树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多尺度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启发式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512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328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8F0F8"/>
                    </a:solidFill>
                  </a:tcPr>
                </a:tc>
              </a:tr>
              <a:tr h="26733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四叉树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7E8EE"/>
                    </a:solidFill>
                  </a:tcPr>
                </a:tc>
                <a:tc vMerge="1">
                  <a:tcPr marL="0" marR="0" marT="0" marB="0" anchor="ctr" anchorCtr="0">
                    <a:solidFill>
                      <a:srgbClr val="E7E8EE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相关聚类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7E8EE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512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7E8EE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defRPr sz="130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300"/>
                        <a:t>326</a:t>
                      </a:r>
                      <a:endParaRPr sz="1300"/>
                    </a:p>
                  </a:txBody>
                  <a:tcPr marL="0" marR="0" marT="0" marB="0" anchor="ctr" anchorCtr="0">
                    <a:solidFill>
                      <a:srgbClr val="E7E8EE"/>
                    </a:solidFill>
                  </a:tcPr>
                </a:tc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" y="3517900"/>
            <a:ext cx="5340985" cy="25927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3517900"/>
            <a:ext cx="6066155" cy="259270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038985" y="6110605"/>
            <a:ext cx="173101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SAHI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多尺度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融合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148955" y="6110605"/>
            <a:ext cx="173101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四叉树多尺度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融合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53795" cy="119888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lang="en-US" altLang="zh-CN" sz="7200" b="1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rPr>
              <a:t>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8" y="2692405"/>
            <a:ext cx="3006090" cy="706755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2D→3D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映射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25120" y="4752975"/>
            <a:ext cx="11440795" cy="139128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just"/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34918" y="237124"/>
            <a:ext cx="2500630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2D→3D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映射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41700" y="267570"/>
            <a:ext cx="34800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ct val="20000"/>
              </a:spcBef>
              <a:defRPr/>
            </a:pPr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全景</a:t>
            </a:r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点云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42680" y="4042410"/>
            <a:ext cx="173101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四叉树多尺度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融合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0331" r="5772"/>
          <a:stretch>
            <a:fillRect/>
          </a:stretch>
        </p:blipFill>
        <p:spPr>
          <a:xfrm>
            <a:off x="1048385" y="931545"/>
            <a:ext cx="3627120" cy="3028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990" y="931545"/>
            <a:ext cx="2612390" cy="30289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90725" y="4044315"/>
            <a:ext cx="214503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四叉树多尺度融合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点云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668655" y="5114290"/>
            <a:ext cx="2088515" cy="668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just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掩码裁剪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从密集点云中精确裁剪候选区域三维点集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5120" y="4382135"/>
            <a:ext cx="40640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点云过滤机制 — 去除平坦地面误检</a:t>
            </a:r>
            <a:endParaRPr lang="zh-CN" altLang="en-US" sz="14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79215" y="5114290"/>
            <a:ext cx="2216150" cy="668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just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高度差计算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Z range = max(Z) - min(Z)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量化区域的三维起伏程度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02220" y="5114290"/>
            <a:ext cx="4011930" cy="66929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just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阈值判定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┌─ Z range ≥ 0.5m → 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真实三维石块 → 进入体积估算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└─ Z range &lt; 0.5m → 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平坦地面误检 → 剔除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 flipV="1">
            <a:off x="2973197" y="5423806"/>
            <a:ext cx="600075" cy="1206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6548882" y="5411741"/>
            <a:ext cx="600075" cy="1206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34918" y="237124"/>
            <a:ext cx="2500630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2D→3D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映射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41700" y="267570"/>
            <a:ext cx="34800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ct val="20000"/>
              </a:spcBef>
              <a:defRPr/>
            </a:pPr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单</a:t>
            </a:r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石块点云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355205" y="4815205"/>
            <a:ext cx="493141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四叉树多尺度融合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图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世界坐标范围: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[623438.95, 4678646.30, 623443.21, 4678650.61]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中心点: (623441.08, 4678648.45)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330" y="1043940"/>
            <a:ext cx="4181475" cy="32594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205" y="1043940"/>
            <a:ext cx="3794760" cy="33051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940" y="4496435"/>
            <a:ext cx="2700655" cy="1768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单石块查看: 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stone_000003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点数: 551948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Z range: 2.205m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尺寸: 4.26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m x 4.31m x 2.2m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置信度: 0.8537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检测来源: 3 个检测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形状1236"/>
          <p:cNvSpPr/>
          <p:nvPr/>
        </p:nvSpPr>
        <p:spPr>
          <a:xfrm>
            <a:off x="1116330" y="4496435"/>
            <a:ext cx="2409190" cy="1782445"/>
          </a:xfrm>
          <a:prstGeom prst="roundRect">
            <a:avLst>
              <a:gd name="adj" fmla="val 110"/>
            </a:avLst>
          </a:prstGeom>
          <a:solidFill>
            <a:schemeClr val="accent1">
              <a:alpha val="5000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9" name="形状1236"/>
          <p:cNvSpPr/>
          <p:nvPr/>
        </p:nvSpPr>
        <p:spPr>
          <a:xfrm>
            <a:off x="7254240" y="4815205"/>
            <a:ext cx="4156075" cy="1288415"/>
          </a:xfrm>
          <a:prstGeom prst="roundRect">
            <a:avLst>
              <a:gd name="adj" fmla="val 110"/>
            </a:avLst>
          </a:prstGeom>
          <a:solidFill>
            <a:schemeClr val="accent1">
              <a:alpha val="5000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53795" cy="119888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lang="en-US" altLang="zh-CN" sz="7200" b="1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rPr>
              <a:t>6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8" y="2692405"/>
            <a:ext cx="2214880" cy="706755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进度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安排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进度安排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5" name="等腰三角形 14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1227760" y="2964847"/>
            <a:ext cx="2319795" cy="2576830"/>
            <a:chOff x="2115232" y="3216593"/>
            <a:chExt cx="2319795" cy="2576830"/>
          </a:xfrm>
        </p:grpSpPr>
        <p:sp>
          <p:nvSpPr>
            <p:cNvPr id="7" name="形状1236"/>
            <p:cNvSpPr/>
            <p:nvPr>
              <p:custDataLst>
                <p:tags r:id="rId2"/>
              </p:custDataLst>
            </p:nvPr>
          </p:nvSpPr>
          <p:spPr>
            <a:xfrm>
              <a:off x="2115232" y="3216593"/>
              <a:ext cx="2298065" cy="2576830"/>
            </a:xfrm>
            <a:prstGeom prst="roundRect">
              <a:avLst>
                <a:gd name="adj" fmla="val 110"/>
              </a:avLst>
            </a:prstGeom>
            <a:solidFill>
              <a:schemeClr val="accent1">
                <a:alpha val="5000"/>
              </a:schemeClr>
            </a:solidFill>
            <a:ln w="15875">
              <a:solidFill>
                <a:schemeClr val="accent1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9" name="形状12310"/>
            <p:cNvSpPr txBox="1"/>
            <p:nvPr>
              <p:custDataLst>
                <p:tags r:id="rId3"/>
              </p:custDataLst>
            </p:nvPr>
          </p:nvSpPr>
          <p:spPr>
            <a:xfrm>
              <a:off x="2433367" y="3442018"/>
              <a:ext cx="1663700" cy="386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+mn-ea"/>
                </a:defRPr>
              </a:lvl1pPr>
            </a:lstStyle>
            <a:p>
              <a:r>
                <a:rPr lang="zh-CN" altLang="en-US" sz="16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大图切片实验</a:t>
              </a:r>
              <a:endPara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10" name="形状12334"/>
            <p:cNvSpPr txBox="1"/>
            <p:nvPr>
              <p:custDataLst>
                <p:tags r:id="rId4"/>
              </p:custDataLst>
            </p:nvPr>
          </p:nvSpPr>
          <p:spPr>
            <a:xfrm>
              <a:off x="2136822" y="3828134"/>
              <a:ext cx="2298205" cy="518160"/>
            </a:xfrm>
            <a:prstGeom prst="rect">
              <a:avLst/>
            </a:prstGeom>
            <a:noFill/>
            <a:effectLst/>
          </p:spPr>
          <p:txBody>
            <a:bodyPr wrap="square" lIns="79004" tIns="39502" rIns="79004" bIns="39502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多尺度切片策略 — </a:t>
              </a: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SAHI(320tiles) vs 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四叉树(129</a:t>
              </a: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tiles,-60%)</a:t>
              </a:r>
              <a:endPara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5"/>
            </p:custDataLst>
          </p:nvPr>
        </p:nvGrpSpPr>
        <p:grpSpPr>
          <a:xfrm>
            <a:off x="1227214" y="2056624"/>
            <a:ext cx="4775200" cy="3484880"/>
            <a:chOff x="-361903" y="2423305"/>
            <a:chExt cx="4775200" cy="3484880"/>
          </a:xfrm>
        </p:grpSpPr>
        <p:sp>
          <p:nvSpPr>
            <p:cNvPr id="31" name="形状1236"/>
            <p:cNvSpPr/>
            <p:nvPr>
              <p:custDataLst>
                <p:tags r:id="rId6"/>
              </p:custDataLst>
            </p:nvPr>
          </p:nvSpPr>
          <p:spPr>
            <a:xfrm>
              <a:off x="2115232" y="3331990"/>
              <a:ext cx="2298065" cy="2576195"/>
            </a:xfrm>
            <a:prstGeom prst="roundRect">
              <a:avLst>
                <a:gd name="adj" fmla="val 110"/>
              </a:avLst>
            </a:prstGeom>
            <a:solidFill>
              <a:schemeClr val="accent1">
                <a:alpha val="5000"/>
              </a:schemeClr>
            </a:solidFill>
            <a:ln w="15875">
              <a:solidFill>
                <a:schemeClr val="accent1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2739835" y="2423305"/>
              <a:ext cx="1049000" cy="1049000"/>
              <a:chOff x="2669206" y="2132589"/>
              <a:chExt cx="1347536" cy="1347536"/>
            </a:xfrm>
          </p:grpSpPr>
          <p:sp>
            <p:nvSpPr>
              <p:cNvPr id="35" name="形状1237"/>
              <p:cNvSpPr/>
              <p:nvPr/>
            </p:nvSpPr>
            <p:spPr>
              <a:xfrm>
                <a:off x="2669206" y="2132589"/>
                <a:ext cx="1347536" cy="134753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381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8755" tIns="49378" rIns="98755" bIns="49378"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形状1238"/>
              <p:cNvSpPr txBox="1"/>
              <p:nvPr/>
            </p:nvSpPr>
            <p:spPr>
              <a:xfrm>
                <a:off x="2791789" y="2470828"/>
                <a:ext cx="1102368" cy="355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accent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pPr algn="ctr"/>
                <a:r>
                  <a:rPr lang="en-US" altLang="zh-CN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阿里巴巴普惠体 3 65 Medium" panose="00020600040101010101" pitchFamily="18" charset="-122"/>
                    <a:sym typeface="Arial" panose="020B0604020202020204" pitchFamily="34" charset="0"/>
                  </a:rPr>
                  <a:t>PART 02</a:t>
                </a:r>
                <a:endPara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7" name="形状1239"/>
              <p:cNvSpPr txBox="1"/>
              <p:nvPr/>
            </p:nvSpPr>
            <p:spPr>
              <a:xfrm>
                <a:off x="2791789" y="2765909"/>
                <a:ext cx="1102368" cy="395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accent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阿里巴巴普惠体 3 65 Medium" panose="00020600040101010101" pitchFamily="18" charset="-122"/>
                    <a:sym typeface="Arial" panose="020B0604020202020204" pitchFamily="34" charset="0"/>
                  </a:rPr>
                  <a:t>阶段二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3" name="形状12310"/>
            <p:cNvSpPr txBox="1"/>
            <p:nvPr>
              <p:custDataLst>
                <p:tags r:id="rId7"/>
              </p:custDataLst>
            </p:nvPr>
          </p:nvSpPr>
          <p:spPr>
            <a:xfrm>
              <a:off x="-34243" y="4461020"/>
              <a:ext cx="1654175" cy="386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+mn-ea"/>
                </a:defRPr>
              </a:lvl1pPr>
            </a:lstStyle>
            <a:p>
              <a:r>
                <a:rPr lang="zh-CN" altLang="en-US" sz="16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石块检测实验</a:t>
              </a:r>
              <a:endPara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34" name="形状12334"/>
            <p:cNvSpPr txBox="1"/>
            <p:nvPr>
              <p:custDataLst>
                <p:tags r:id="rId8"/>
              </p:custDataLst>
            </p:nvPr>
          </p:nvSpPr>
          <p:spPr>
            <a:xfrm>
              <a:off x="-361903" y="4847309"/>
              <a:ext cx="2298205" cy="738505"/>
            </a:xfrm>
            <a:prstGeom prst="rect">
              <a:avLst/>
            </a:prstGeom>
            <a:noFill/>
            <a:effectLst/>
          </p:spPr>
          <p:txBody>
            <a:bodyPr wrap="square" lIns="79004" tIns="39502" rIns="79004" bIns="39502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YOLOv11-seg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实例分割 + 多尺度推理融合</a:t>
              </a: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458→535 (+16.8%)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（+16.8%检测率）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9"/>
            </p:custDataLst>
          </p:nvPr>
        </p:nvGrpSpPr>
        <p:grpSpPr>
          <a:xfrm>
            <a:off x="3704438" y="2056624"/>
            <a:ext cx="4774565" cy="3484880"/>
            <a:chOff x="-361268" y="2423305"/>
            <a:chExt cx="4774565" cy="3484880"/>
          </a:xfrm>
        </p:grpSpPr>
        <p:sp>
          <p:nvSpPr>
            <p:cNvPr id="39" name="形状1236"/>
            <p:cNvSpPr/>
            <p:nvPr>
              <p:custDataLst>
                <p:tags r:id="rId10"/>
              </p:custDataLst>
            </p:nvPr>
          </p:nvSpPr>
          <p:spPr>
            <a:xfrm>
              <a:off x="2115232" y="3331355"/>
              <a:ext cx="2298065" cy="2576830"/>
            </a:xfrm>
            <a:prstGeom prst="roundRect">
              <a:avLst>
                <a:gd name="adj" fmla="val 110"/>
              </a:avLst>
            </a:prstGeom>
            <a:solidFill>
              <a:schemeClr val="accent1">
                <a:alpha val="5000"/>
              </a:schemeClr>
            </a:solidFill>
            <a:ln w="15875">
              <a:solidFill>
                <a:schemeClr val="accent1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2739835" y="2423305"/>
              <a:ext cx="1049000" cy="1049000"/>
              <a:chOff x="2669206" y="2132589"/>
              <a:chExt cx="1347536" cy="1347536"/>
            </a:xfrm>
          </p:grpSpPr>
          <p:sp>
            <p:nvSpPr>
              <p:cNvPr id="43" name="形状1237"/>
              <p:cNvSpPr/>
              <p:nvPr/>
            </p:nvSpPr>
            <p:spPr>
              <a:xfrm>
                <a:off x="2669206" y="2132589"/>
                <a:ext cx="1347536" cy="1347536"/>
              </a:xfrm>
              <a:prstGeom prst="ellipse">
                <a:avLst/>
              </a:prstGeom>
              <a:solidFill>
                <a:schemeClr val="accent1"/>
              </a:solidFill>
              <a:ln w="381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8755" tIns="49378" rIns="98755" bIns="49378"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4" name="形状1238"/>
              <p:cNvSpPr txBox="1"/>
              <p:nvPr/>
            </p:nvSpPr>
            <p:spPr>
              <a:xfrm>
                <a:off x="2791789" y="2470828"/>
                <a:ext cx="1102368" cy="355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accent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pPr algn="ctr"/>
                <a:r>
                  <a:rPr lang="en-US" altLang="zh-CN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阿里巴巴普惠体 3 65 Medium" panose="00020600040101010101" pitchFamily="18" charset="-122"/>
                    <a:sym typeface="Arial" panose="020B0604020202020204" pitchFamily="34" charset="0"/>
                  </a:rPr>
                  <a:t>PART 03</a:t>
                </a:r>
                <a:endPara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5" name="形状1239"/>
              <p:cNvSpPr txBox="1"/>
              <p:nvPr/>
            </p:nvSpPr>
            <p:spPr>
              <a:xfrm>
                <a:off x="2791789" y="2765909"/>
                <a:ext cx="1102368" cy="395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accent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阿里巴巴普惠体 3 65 Medium" panose="00020600040101010101" pitchFamily="18" charset="-122"/>
                    <a:sym typeface="Arial" panose="020B0604020202020204" pitchFamily="34" charset="0"/>
                  </a:rPr>
                  <a:t>阶段三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1" name="形状12310"/>
            <p:cNvSpPr txBox="1"/>
            <p:nvPr>
              <p:custDataLst>
                <p:tags r:id="rId11"/>
              </p:custDataLst>
            </p:nvPr>
          </p:nvSpPr>
          <p:spPr>
            <a:xfrm>
              <a:off x="-121238" y="3556780"/>
              <a:ext cx="1818640" cy="386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+mn-ea"/>
                </a:defRPr>
              </a:lvl1pPr>
            </a:lstStyle>
            <a:p>
              <a:r>
                <a:rPr lang="zh-CN" altLang="en-US" sz="16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切片融合实验</a:t>
              </a:r>
              <a:endPara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42" name="形状12334"/>
            <p:cNvSpPr txBox="1"/>
            <p:nvPr>
              <p:custDataLst>
                <p:tags r:id="rId12"/>
              </p:custDataLst>
            </p:nvPr>
          </p:nvSpPr>
          <p:spPr>
            <a:xfrm>
              <a:off x="-361268" y="3943069"/>
              <a:ext cx="2298205" cy="518160"/>
            </a:xfrm>
            <a:prstGeom prst="rect">
              <a:avLst/>
            </a:prstGeom>
            <a:noFill/>
            <a:effectLst/>
          </p:spPr>
          <p:txBody>
            <a:bodyPr wrap="square" lIns="79004" tIns="39502" rIns="79004" bIns="39502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两种融合去重算法 — 启发式合并 + 相关聚类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>
            <p:custDataLst>
              <p:tags r:id="rId13"/>
            </p:custDataLst>
          </p:nvPr>
        </p:nvGrpSpPr>
        <p:grpSpPr>
          <a:xfrm>
            <a:off x="3728022" y="2056624"/>
            <a:ext cx="7227570" cy="3484880"/>
            <a:chOff x="-2814273" y="2423305"/>
            <a:chExt cx="7227570" cy="3484880"/>
          </a:xfrm>
        </p:grpSpPr>
        <p:sp>
          <p:nvSpPr>
            <p:cNvPr id="47" name="形状1236"/>
            <p:cNvSpPr/>
            <p:nvPr>
              <p:custDataLst>
                <p:tags r:id="rId14"/>
              </p:custDataLst>
            </p:nvPr>
          </p:nvSpPr>
          <p:spPr>
            <a:xfrm>
              <a:off x="2115232" y="3331355"/>
              <a:ext cx="2298065" cy="2576830"/>
            </a:xfrm>
            <a:prstGeom prst="roundRect">
              <a:avLst>
                <a:gd name="adj" fmla="val 110"/>
              </a:avLst>
            </a:prstGeom>
            <a:solidFill>
              <a:schemeClr val="accent1">
                <a:alpha val="5000"/>
              </a:schemeClr>
            </a:solidFill>
            <a:ln w="15875">
              <a:solidFill>
                <a:schemeClr val="accent1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2739835" y="2423305"/>
              <a:ext cx="1049000" cy="1049000"/>
              <a:chOff x="2669206" y="2132589"/>
              <a:chExt cx="1347536" cy="1347536"/>
            </a:xfrm>
          </p:grpSpPr>
          <p:sp>
            <p:nvSpPr>
              <p:cNvPr id="51" name="形状1237"/>
              <p:cNvSpPr/>
              <p:nvPr/>
            </p:nvSpPr>
            <p:spPr>
              <a:xfrm>
                <a:off x="2669206" y="2132589"/>
                <a:ext cx="1347536" cy="134753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381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8755" tIns="49378" rIns="98755" bIns="49378"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" name="形状1238"/>
              <p:cNvSpPr txBox="1"/>
              <p:nvPr/>
            </p:nvSpPr>
            <p:spPr>
              <a:xfrm>
                <a:off x="2791789" y="2470828"/>
                <a:ext cx="1102368" cy="355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accent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pPr algn="ctr"/>
                <a:r>
                  <a:rPr lang="en-US" altLang="zh-CN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阿里巴巴普惠体 3 65 Medium" panose="00020600040101010101" pitchFamily="18" charset="-122"/>
                    <a:sym typeface="Arial" panose="020B0604020202020204" pitchFamily="34" charset="0"/>
                  </a:rPr>
                  <a:t>PART 04</a:t>
                </a:r>
                <a:endPara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3" name="形状1239"/>
              <p:cNvSpPr txBox="1"/>
              <p:nvPr/>
            </p:nvSpPr>
            <p:spPr>
              <a:xfrm>
                <a:off x="2791789" y="2765909"/>
                <a:ext cx="1102368" cy="395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accent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阿里巴巴普惠体 3 65 Medium" panose="00020600040101010101" pitchFamily="18" charset="-122"/>
                    <a:sym typeface="Arial" panose="020B0604020202020204" pitchFamily="34" charset="0"/>
                  </a:rPr>
                  <a:t>阶段四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9" name="形状12310"/>
            <p:cNvSpPr txBox="1"/>
            <p:nvPr>
              <p:custDataLst>
                <p:tags r:id="rId15"/>
              </p:custDataLst>
            </p:nvPr>
          </p:nvSpPr>
          <p:spPr>
            <a:xfrm>
              <a:off x="-2358328" y="4473223"/>
              <a:ext cx="1340596" cy="386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+mn-ea"/>
                </a:defRPr>
              </a:lvl1pPr>
            </a:lstStyle>
            <a:p>
              <a:r>
                <a:rPr lang="zh-CN" altLang="en-US" sz="16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结果实验</a:t>
              </a:r>
              <a:endPara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50" name="形状12334"/>
            <p:cNvSpPr txBox="1"/>
            <p:nvPr>
              <p:custDataLst>
                <p:tags r:id="rId16"/>
              </p:custDataLst>
            </p:nvPr>
          </p:nvSpPr>
          <p:spPr>
            <a:xfrm>
              <a:off x="-2814273" y="4966689"/>
              <a:ext cx="2298205" cy="518160"/>
            </a:xfrm>
            <a:prstGeom prst="rect">
              <a:avLst/>
            </a:prstGeom>
            <a:noFill/>
            <a:effectLst/>
          </p:spPr>
          <p:txBody>
            <a:bodyPr wrap="square" lIns="79004" tIns="39502" rIns="79004" bIns="39502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完整8组实验结果 — 最优: 四叉树+多尺度+相关聚类=326块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1227760" y="1007303"/>
            <a:ext cx="9736479" cy="647700"/>
            <a:chOff x="2115232" y="889888"/>
            <a:chExt cx="9736479" cy="647700"/>
          </a:xfrm>
        </p:grpSpPr>
        <p:sp>
          <p:nvSpPr>
            <p:cNvPr id="55" name="形状1231"/>
            <p:cNvSpPr/>
            <p:nvPr/>
          </p:nvSpPr>
          <p:spPr>
            <a:xfrm>
              <a:off x="2115232" y="889888"/>
              <a:ext cx="9727972" cy="647700"/>
            </a:xfrm>
            <a:prstGeom prst="rect">
              <a:avLst/>
            </a:prstGeom>
            <a:solidFill>
              <a:schemeClr val="bg1">
                <a:alpha val="15079"/>
              </a:schemeClr>
            </a:solidFill>
            <a:ln w="15875">
              <a:solidFill>
                <a:schemeClr val="accent1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 3.0 65 Medium" panose="00020600040101010101" pitchFamily="18" charset="-122"/>
                <a:ea typeface="阿里巴巴普惠体 3 65 Medium" panose="00020600040101010101" pitchFamily="18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2123739" y="1087762"/>
              <a:ext cx="9727972" cy="241224"/>
              <a:chOff x="2115232" y="1430345"/>
              <a:chExt cx="9727972" cy="241224"/>
            </a:xfrm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grpSpPr>
          <p:sp>
            <p:nvSpPr>
              <p:cNvPr id="61" name="矩形 60"/>
              <p:cNvSpPr/>
              <p:nvPr/>
            </p:nvSpPr>
            <p:spPr>
              <a:xfrm>
                <a:off x="2115232" y="1525090"/>
                <a:ext cx="9574744" cy="4571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/>
            </p:nvSpPr>
            <p:spPr>
              <a:xfrm rot="5400000">
                <a:off x="11566427" y="1394792"/>
                <a:ext cx="241224" cy="31233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7" name="形状1232"/>
            <p:cNvSpPr txBox="1"/>
            <p:nvPr/>
          </p:nvSpPr>
          <p:spPr>
            <a:xfrm>
              <a:off x="2739834" y="1050053"/>
              <a:ext cx="1049000" cy="30670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2026.5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58" name="形状1232"/>
            <p:cNvSpPr txBox="1"/>
            <p:nvPr/>
          </p:nvSpPr>
          <p:spPr>
            <a:xfrm>
              <a:off x="10169602" y="1050053"/>
              <a:ext cx="1049000" cy="30670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2026.09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59" name="形状1232"/>
            <p:cNvSpPr txBox="1"/>
            <p:nvPr/>
          </p:nvSpPr>
          <p:spPr>
            <a:xfrm>
              <a:off x="5216423" y="1050053"/>
              <a:ext cx="1049000" cy="30670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2026.6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60" name="形状1232"/>
            <p:cNvSpPr txBox="1"/>
            <p:nvPr/>
          </p:nvSpPr>
          <p:spPr>
            <a:xfrm>
              <a:off x="7693012" y="1050053"/>
              <a:ext cx="1049000" cy="30670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3 65 Medium" panose="00020600040101010101" pitchFamily="18" charset="-122"/>
                  <a:sym typeface="Arial" panose="020B0604020202020204" pitchFamily="34" charset="0"/>
                </a:rPr>
                <a:t>2026.07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2271282" y="1518653"/>
            <a:ext cx="206188" cy="402305"/>
            <a:chOff x="4174846" y="1800209"/>
            <a:chExt cx="206188" cy="402305"/>
          </a:xfrm>
        </p:grpSpPr>
        <p:sp>
          <p:nvSpPr>
            <p:cNvPr id="64" name="箭头: 下 63"/>
            <p:cNvSpPr/>
            <p:nvPr/>
          </p:nvSpPr>
          <p:spPr>
            <a:xfrm>
              <a:off x="4207999" y="1939209"/>
              <a:ext cx="139883" cy="263305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4174846" y="1800209"/>
              <a:ext cx="206188" cy="206188"/>
              <a:chOff x="5728447" y="-878541"/>
              <a:chExt cx="833598" cy="833598"/>
            </a:xfrm>
          </p:grpSpPr>
          <p:sp>
            <p:nvSpPr>
              <p:cNvPr id="66" name="椭圆 65"/>
              <p:cNvSpPr/>
              <p:nvPr/>
            </p:nvSpPr>
            <p:spPr>
              <a:xfrm>
                <a:off x="5728447" y="-878541"/>
                <a:ext cx="833598" cy="83359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5917641" y="-689347"/>
                <a:ext cx="455211" cy="455211"/>
              </a:xfrm>
              <a:prstGeom prst="ellipse">
                <a:avLst/>
              </a:prstGeom>
              <a:solidFill>
                <a:schemeClr val="bg1"/>
              </a:solidFill>
              <a:effectLst>
                <a:glow rad="127000">
                  <a:schemeClr val="bg1"/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8" name="组合 67"/>
          <p:cNvGrpSpPr/>
          <p:nvPr/>
        </p:nvGrpSpPr>
        <p:grpSpPr>
          <a:xfrm>
            <a:off x="9703535" y="1518653"/>
            <a:ext cx="206188" cy="402305"/>
            <a:chOff x="4174846" y="1800209"/>
            <a:chExt cx="206188" cy="402305"/>
          </a:xfrm>
        </p:grpSpPr>
        <p:sp>
          <p:nvSpPr>
            <p:cNvPr id="69" name="箭头: 下 68"/>
            <p:cNvSpPr/>
            <p:nvPr/>
          </p:nvSpPr>
          <p:spPr>
            <a:xfrm>
              <a:off x="4207999" y="1939209"/>
              <a:ext cx="139883" cy="263305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4174846" y="1800209"/>
              <a:ext cx="206188" cy="206188"/>
              <a:chOff x="5728447" y="-878541"/>
              <a:chExt cx="833598" cy="833598"/>
            </a:xfrm>
          </p:grpSpPr>
          <p:sp>
            <p:nvSpPr>
              <p:cNvPr id="71" name="椭圆 70"/>
              <p:cNvSpPr/>
              <p:nvPr/>
            </p:nvSpPr>
            <p:spPr>
              <a:xfrm>
                <a:off x="5728447" y="-878541"/>
                <a:ext cx="833598" cy="83359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椭圆 71"/>
              <p:cNvSpPr/>
              <p:nvPr/>
            </p:nvSpPr>
            <p:spPr>
              <a:xfrm>
                <a:off x="5917641" y="-689347"/>
                <a:ext cx="455211" cy="455211"/>
              </a:xfrm>
              <a:prstGeom prst="ellipse">
                <a:avLst/>
              </a:prstGeom>
              <a:solidFill>
                <a:schemeClr val="bg1"/>
              </a:solidFill>
              <a:effectLst>
                <a:glow rad="127000">
                  <a:schemeClr val="bg1"/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4748700" y="1518653"/>
            <a:ext cx="206188" cy="402305"/>
            <a:chOff x="4174846" y="1800209"/>
            <a:chExt cx="206188" cy="402305"/>
          </a:xfrm>
        </p:grpSpPr>
        <p:sp>
          <p:nvSpPr>
            <p:cNvPr id="74" name="箭头: 下 73"/>
            <p:cNvSpPr/>
            <p:nvPr/>
          </p:nvSpPr>
          <p:spPr>
            <a:xfrm>
              <a:off x="4207999" y="1939209"/>
              <a:ext cx="139883" cy="263305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5" name="组合 74"/>
            <p:cNvGrpSpPr/>
            <p:nvPr/>
          </p:nvGrpSpPr>
          <p:grpSpPr>
            <a:xfrm>
              <a:off x="4174846" y="1800209"/>
              <a:ext cx="206188" cy="206188"/>
              <a:chOff x="5728447" y="-878541"/>
              <a:chExt cx="833598" cy="833598"/>
            </a:xfrm>
          </p:grpSpPr>
          <p:sp>
            <p:nvSpPr>
              <p:cNvPr id="76" name="椭圆 75"/>
              <p:cNvSpPr/>
              <p:nvPr/>
            </p:nvSpPr>
            <p:spPr>
              <a:xfrm>
                <a:off x="5728447" y="-878541"/>
                <a:ext cx="833598" cy="83359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5917641" y="-689347"/>
                <a:ext cx="455211" cy="455211"/>
              </a:xfrm>
              <a:prstGeom prst="ellipse">
                <a:avLst/>
              </a:prstGeom>
              <a:solidFill>
                <a:schemeClr val="bg1"/>
              </a:solidFill>
              <a:effectLst>
                <a:glow rad="127000">
                  <a:schemeClr val="bg1"/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8" name="组合 77"/>
          <p:cNvGrpSpPr/>
          <p:nvPr/>
        </p:nvGrpSpPr>
        <p:grpSpPr>
          <a:xfrm>
            <a:off x="7226118" y="1518653"/>
            <a:ext cx="206188" cy="402305"/>
            <a:chOff x="4174846" y="1800209"/>
            <a:chExt cx="206188" cy="402305"/>
          </a:xfrm>
        </p:grpSpPr>
        <p:sp>
          <p:nvSpPr>
            <p:cNvPr id="79" name="箭头: 下 78"/>
            <p:cNvSpPr/>
            <p:nvPr/>
          </p:nvSpPr>
          <p:spPr>
            <a:xfrm>
              <a:off x="4207999" y="1939209"/>
              <a:ext cx="139883" cy="263305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0" name="组合 79"/>
            <p:cNvGrpSpPr/>
            <p:nvPr/>
          </p:nvGrpSpPr>
          <p:grpSpPr>
            <a:xfrm>
              <a:off x="4174846" y="1800209"/>
              <a:ext cx="206188" cy="206188"/>
              <a:chOff x="5728447" y="-878541"/>
              <a:chExt cx="833598" cy="833598"/>
            </a:xfrm>
          </p:grpSpPr>
          <p:sp>
            <p:nvSpPr>
              <p:cNvPr id="81" name="椭圆 80"/>
              <p:cNvSpPr/>
              <p:nvPr/>
            </p:nvSpPr>
            <p:spPr>
              <a:xfrm>
                <a:off x="5728447" y="-878541"/>
                <a:ext cx="833598" cy="83359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5917641" y="-689347"/>
                <a:ext cx="455211" cy="455211"/>
              </a:xfrm>
              <a:prstGeom prst="ellipse">
                <a:avLst/>
              </a:prstGeom>
              <a:solidFill>
                <a:schemeClr val="bg1"/>
              </a:solidFill>
              <a:effectLst>
                <a:glow rad="127000">
                  <a:schemeClr val="bg1"/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83" name="形状12331"/>
          <p:cNvGrpSpPr/>
          <p:nvPr/>
        </p:nvGrpSpPr>
        <p:grpSpPr>
          <a:xfrm>
            <a:off x="3128964" y="2254630"/>
            <a:ext cx="831801" cy="490902"/>
            <a:chOff x="4432532" y="1765922"/>
            <a:chExt cx="3414492" cy="2015127"/>
          </a:xfrm>
          <a:solidFill>
            <a:schemeClr val="accent1"/>
          </a:solidFill>
        </p:grpSpPr>
        <p:sp>
          <p:nvSpPr>
            <p:cNvPr id="84" name="形状12331-1"/>
            <p:cNvSpPr/>
            <p:nvPr/>
          </p:nvSpPr>
          <p:spPr>
            <a:xfrm rot="2700000">
              <a:off x="6078392" y="2375522"/>
              <a:ext cx="1767840" cy="548640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en-US" sz="1945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阿里巴巴普惠体 3.0 65 Medium" panose="00020600040101010101" pitchFamily="18" charset="-122"/>
                <a:ea typeface="阿里巴巴普惠体 3 65 Medium" panose="00020600040101010101" pitchFamily="18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85" name="形状12331-2"/>
            <p:cNvSpPr/>
            <p:nvPr/>
          </p:nvSpPr>
          <p:spPr>
            <a:xfrm rot="8100000">
              <a:off x="6084616" y="3232409"/>
              <a:ext cx="1762408" cy="548640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en-US" sz="1945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阿里巴巴普惠体 3.0 65 Medium" panose="00020600040101010101" pitchFamily="18" charset="-122"/>
                <a:ea typeface="阿里巴巴普惠体 3 65 Medium" panose="00020600040101010101" pitchFamily="18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86" name="形状12331-3"/>
            <p:cNvSpPr/>
            <p:nvPr/>
          </p:nvSpPr>
          <p:spPr>
            <a:xfrm>
              <a:off x="4432532" y="2803872"/>
              <a:ext cx="3235869" cy="548640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en-US" sz="1945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阿里巴巴普惠体 3.0 65 Medium" panose="00020600040101010101" pitchFamily="18" charset="-122"/>
                <a:ea typeface="阿里巴巴普惠体 3 65 Medium" panose="00020600040101010101" pitchFamily="18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 useBgFill="1">
          <p:nvSpPr>
            <p:cNvPr id="87" name="形状12331-4"/>
            <p:cNvSpPr/>
            <p:nvPr/>
          </p:nvSpPr>
          <p:spPr>
            <a:xfrm>
              <a:off x="7139091" y="2826506"/>
              <a:ext cx="499376" cy="503372"/>
            </a:xfrm>
            <a:prstGeom prst="ellipse">
              <a:avLst/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en-US" sz="1945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阿里巴巴普惠体 3.0 65 Medium" panose="00020600040101010101" pitchFamily="18" charset="-122"/>
                <a:ea typeface="阿里巴巴普惠体 3 65 Medium" panose="00020600040101010101" pitchFamily="18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88" name="形状12331"/>
          <p:cNvGrpSpPr/>
          <p:nvPr/>
        </p:nvGrpSpPr>
        <p:grpSpPr>
          <a:xfrm>
            <a:off x="5607838" y="2254630"/>
            <a:ext cx="831801" cy="490902"/>
            <a:chOff x="4432532" y="1765922"/>
            <a:chExt cx="3414492" cy="2015127"/>
          </a:xfrm>
          <a:solidFill>
            <a:schemeClr val="bg1">
              <a:lumMod val="50000"/>
            </a:schemeClr>
          </a:solidFill>
        </p:grpSpPr>
        <p:sp>
          <p:nvSpPr>
            <p:cNvPr id="89" name="形状12331-1"/>
            <p:cNvSpPr/>
            <p:nvPr/>
          </p:nvSpPr>
          <p:spPr>
            <a:xfrm rot="2700000">
              <a:off x="6078392" y="2375522"/>
              <a:ext cx="1767840" cy="548640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en-US" sz="1945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阿里巴巴普惠体 3.0 65 Medium" panose="00020600040101010101" pitchFamily="18" charset="-122"/>
                <a:ea typeface="阿里巴巴普惠体 3 65 Medium" panose="00020600040101010101" pitchFamily="18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90" name="形状12331-2"/>
            <p:cNvSpPr/>
            <p:nvPr/>
          </p:nvSpPr>
          <p:spPr>
            <a:xfrm rot="8100000">
              <a:off x="6084616" y="3232409"/>
              <a:ext cx="1762408" cy="548640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en-US" sz="1945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阿里巴巴普惠体 3.0 65 Medium" panose="00020600040101010101" pitchFamily="18" charset="-122"/>
                <a:ea typeface="阿里巴巴普惠体 3 65 Medium" panose="00020600040101010101" pitchFamily="18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91" name="形状12331-3"/>
            <p:cNvSpPr/>
            <p:nvPr/>
          </p:nvSpPr>
          <p:spPr>
            <a:xfrm>
              <a:off x="4432532" y="2803872"/>
              <a:ext cx="3235869" cy="548640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en-US" sz="1945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阿里巴巴普惠体 3.0 65 Medium" panose="00020600040101010101" pitchFamily="18" charset="-122"/>
                <a:ea typeface="阿里巴巴普惠体 3 65 Medium" panose="00020600040101010101" pitchFamily="18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 useBgFill="1">
          <p:nvSpPr>
            <p:cNvPr id="92" name="形状12331-4"/>
            <p:cNvSpPr/>
            <p:nvPr/>
          </p:nvSpPr>
          <p:spPr>
            <a:xfrm>
              <a:off x="7139091" y="2826506"/>
              <a:ext cx="499376" cy="503372"/>
            </a:xfrm>
            <a:prstGeom prst="ellipse">
              <a:avLst/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en-US" sz="1945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阿里巴巴普惠体 3.0 65 Medium" panose="00020600040101010101" pitchFamily="18" charset="-122"/>
                <a:ea typeface="阿里巴巴普惠体 3 65 Medium" panose="00020600040101010101" pitchFamily="18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3" name="形状12331"/>
          <p:cNvGrpSpPr/>
          <p:nvPr/>
        </p:nvGrpSpPr>
        <p:grpSpPr>
          <a:xfrm>
            <a:off x="8086712" y="2254630"/>
            <a:ext cx="831801" cy="490902"/>
            <a:chOff x="4432532" y="1765922"/>
            <a:chExt cx="3414492" cy="2015127"/>
          </a:xfrm>
          <a:solidFill>
            <a:schemeClr val="accent1"/>
          </a:solidFill>
        </p:grpSpPr>
        <p:sp>
          <p:nvSpPr>
            <p:cNvPr id="94" name="形状12331-1"/>
            <p:cNvSpPr/>
            <p:nvPr/>
          </p:nvSpPr>
          <p:spPr>
            <a:xfrm rot="2700000">
              <a:off x="6078392" y="2375522"/>
              <a:ext cx="1767840" cy="548640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en-US" sz="1945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阿里巴巴普惠体 3.0 65 Medium" panose="00020600040101010101" pitchFamily="18" charset="-122"/>
                <a:ea typeface="阿里巴巴普惠体 3 65 Medium" panose="00020600040101010101" pitchFamily="18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95" name="形状12331-2"/>
            <p:cNvSpPr/>
            <p:nvPr/>
          </p:nvSpPr>
          <p:spPr>
            <a:xfrm rot="8100000">
              <a:off x="6084616" y="3232409"/>
              <a:ext cx="1762408" cy="548640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en-US" sz="1945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阿里巴巴普惠体 3.0 65 Medium" panose="00020600040101010101" pitchFamily="18" charset="-122"/>
                <a:ea typeface="阿里巴巴普惠体 3 65 Medium" panose="00020600040101010101" pitchFamily="18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96" name="形状12331-3"/>
            <p:cNvSpPr/>
            <p:nvPr/>
          </p:nvSpPr>
          <p:spPr>
            <a:xfrm>
              <a:off x="4432532" y="2803872"/>
              <a:ext cx="3235869" cy="548640"/>
            </a:xfrm>
            <a:prstGeom prst="roundRect">
              <a:avLst>
                <a:gd name="adj" fmla="val 50000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en-US" sz="1945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阿里巴巴普惠体 3.0 65 Medium" panose="00020600040101010101" pitchFamily="18" charset="-122"/>
                <a:ea typeface="阿里巴巴普惠体 3 65 Medium" panose="00020600040101010101" pitchFamily="18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  <p:sp useBgFill="1">
          <p:nvSpPr>
            <p:cNvPr id="97" name="形状12331-4"/>
            <p:cNvSpPr/>
            <p:nvPr/>
          </p:nvSpPr>
          <p:spPr>
            <a:xfrm>
              <a:off x="7139091" y="2826506"/>
              <a:ext cx="499376" cy="503372"/>
            </a:xfrm>
            <a:prstGeom prst="ellipse">
              <a:avLst/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en-US" sz="1945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阿里巴巴普惠体 3.0 65 Medium" panose="00020600040101010101" pitchFamily="18" charset="-122"/>
                <a:ea typeface="阿里巴巴普惠体 3 65 Medium" panose="00020600040101010101" pitchFamily="18" charset="-122"/>
                <a:cs typeface="阿里巴巴普惠体 3 65 Medium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形状1237"/>
          <p:cNvSpPr/>
          <p:nvPr/>
        </p:nvSpPr>
        <p:spPr>
          <a:xfrm>
            <a:off x="1852541" y="2153144"/>
            <a:ext cx="1049000" cy="1049000"/>
          </a:xfrm>
          <a:prstGeom prst="ellipse">
            <a:avLst/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" name="形状1238"/>
          <p:cNvSpPr txBox="1"/>
          <p:nvPr/>
        </p:nvSpPr>
        <p:spPr>
          <a:xfrm>
            <a:off x="1947967" y="2416449"/>
            <a:ext cx="858147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PART 01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形状1239"/>
          <p:cNvSpPr txBox="1"/>
          <p:nvPr/>
        </p:nvSpPr>
        <p:spPr>
          <a:xfrm>
            <a:off x="1947967" y="2646157"/>
            <a:ext cx="858147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阶段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一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2" name="形状12334"/>
          <p:cNvSpPr txBox="1"/>
          <p:nvPr>
            <p:custDataLst>
              <p:tags r:id="rId17"/>
            </p:custDataLst>
          </p:nvPr>
        </p:nvSpPr>
        <p:spPr>
          <a:xfrm>
            <a:off x="6206427" y="3588453"/>
            <a:ext cx="2298205" cy="958215"/>
          </a:xfrm>
          <a:prstGeom prst="rect">
            <a:avLst/>
          </a:prstGeom>
          <a:noFill/>
          <a:effectLst/>
        </p:spPr>
        <p:txBody>
          <a:bodyPr wrap="square" lIns="79004" tIns="39502" rIns="79004" bIns="39502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2D→3D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映射与体积估算：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 → 映射代码已完成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   → 待运行输出体素/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Alpha Shape/Convex Hull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对比数据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6" name="形状12310"/>
          <p:cNvSpPr txBox="1"/>
          <p:nvPr>
            <p:custDataLst>
              <p:tags r:id="rId18"/>
            </p:custDataLst>
          </p:nvPr>
        </p:nvSpPr>
        <p:spPr>
          <a:xfrm>
            <a:off x="6424295" y="3190240"/>
            <a:ext cx="1764665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defRPr>
            </a:lvl1pPr>
          </a:lstStyle>
          <a:p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体积</a:t>
            </a: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估算实验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7" name="形状12310"/>
          <p:cNvSpPr txBox="1"/>
          <p:nvPr>
            <p:custDataLst>
              <p:tags r:id="rId19"/>
            </p:custDataLst>
          </p:nvPr>
        </p:nvSpPr>
        <p:spPr>
          <a:xfrm>
            <a:off x="8902700" y="3202305"/>
            <a:ext cx="1764665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defRPr>
            </a:lvl1pPr>
          </a:lstStyle>
          <a:p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评估实验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8" name="形状12334"/>
          <p:cNvSpPr txBox="1"/>
          <p:nvPr>
            <p:custDataLst>
              <p:tags r:id="rId20"/>
            </p:custDataLst>
          </p:nvPr>
        </p:nvSpPr>
        <p:spPr>
          <a:xfrm>
            <a:off x="8666417" y="3715453"/>
            <a:ext cx="2298205" cy="298450"/>
          </a:xfrm>
          <a:prstGeom prst="rect">
            <a:avLst/>
          </a:prstGeom>
          <a:noFill/>
          <a:effectLst/>
        </p:spPr>
        <p:txBody>
          <a:bodyPr wrap="square" lIns="79004" tIns="39502" rIns="79004" bIns="39502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 定量精度评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--Precision/Recall/F1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9" name="形状12334"/>
          <p:cNvSpPr txBox="1"/>
          <p:nvPr>
            <p:custDataLst>
              <p:tags r:id="rId21"/>
            </p:custDataLst>
          </p:nvPr>
        </p:nvSpPr>
        <p:spPr>
          <a:xfrm>
            <a:off x="8666417" y="4600008"/>
            <a:ext cx="2298205" cy="518160"/>
          </a:xfrm>
          <a:prstGeom prst="rect">
            <a:avLst/>
          </a:prstGeom>
          <a:noFill/>
          <a:effectLst/>
        </p:spPr>
        <p:txBody>
          <a:bodyPr wrap="square" lIns="79004" tIns="39502" rIns="79004" bIns="39502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 全流程参数优化 — 切片/检测/融合参数调优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0" name="形状12310"/>
          <p:cNvSpPr txBox="1"/>
          <p:nvPr>
            <p:custDataLst>
              <p:tags r:id="rId22"/>
            </p:custDataLst>
          </p:nvPr>
        </p:nvSpPr>
        <p:spPr>
          <a:xfrm>
            <a:off x="9029700" y="4160520"/>
            <a:ext cx="1764665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defRPr>
            </a:lvl1pPr>
          </a:lstStyle>
          <a:p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参数</a:t>
            </a: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优化实验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2" name="形状12310"/>
          <p:cNvSpPr txBox="1"/>
          <p:nvPr>
            <p:custDataLst>
              <p:tags r:id="rId23"/>
            </p:custDataLst>
          </p:nvPr>
        </p:nvSpPr>
        <p:spPr>
          <a:xfrm>
            <a:off x="1545349" y="5676124"/>
            <a:ext cx="1654175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defRPr>
            </a:lvl1pPr>
          </a:lstStyle>
          <a:p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已完成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3" name="形状12310"/>
          <p:cNvSpPr txBox="1"/>
          <p:nvPr>
            <p:custDataLst>
              <p:tags r:id="rId24"/>
            </p:custDataLst>
          </p:nvPr>
        </p:nvSpPr>
        <p:spPr>
          <a:xfrm>
            <a:off x="9029459" y="5676124"/>
            <a:ext cx="1654175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defRPr>
            </a:lvl1pPr>
          </a:lstStyle>
          <a:p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待完成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4" name="形状12310"/>
          <p:cNvSpPr txBox="1"/>
          <p:nvPr>
            <p:custDataLst>
              <p:tags r:id="rId25"/>
            </p:custDataLst>
          </p:nvPr>
        </p:nvSpPr>
        <p:spPr>
          <a:xfrm>
            <a:off x="6534544" y="5676124"/>
            <a:ext cx="1654175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defRPr>
            </a:lvl1pPr>
          </a:lstStyle>
          <a:p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进行中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5" name="形状12310"/>
          <p:cNvSpPr txBox="1"/>
          <p:nvPr>
            <p:custDataLst>
              <p:tags r:id="rId26"/>
            </p:custDataLst>
          </p:nvPr>
        </p:nvSpPr>
        <p:spPr>
          <a:xfrm>
            <a:off x="4024389" y="5676124"/>
            <a:ext cx="1654175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defRPr>
            </a:lvl1pPr>
          </a:lstStyle>
          <a:p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 65 Medium" panose="00020600040101010101" pitchFamily="18" charset="-122"/>
                <a:sym typeface="Arial" panose="020B0604020202020204" pitchFamily="34" charset="0"/>
              </a:rPr>
              <a:t>已完成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hlinkClick r:id="rId1" action="ppaction://hlinksldjump"/>
          </p:cNvPr>
          <p:cNvSpPr/>
          <p:nvPr/>
        </p:nvSpPr>
        <p:spPr>
          <a:xfrm>
            <a:off x="454660" y="852805"/>
            <a:ext cx="11482705" cy="5179060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[1] Qi C R, Su H, Mo K, et al. PointNet: Deep Learning on Point Sets for 3D Classification and Segmentation. CVPR, 2017. </a:t>
            </a: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 首个直接在原始点集上进行端到端深度学习的开创性工作</a:t>
            </a:r>
            <a:endParaRPr kumimoji="0" lang="zh-CN" altLang="en-US" sz="146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[2] Akyon F C, Altinuc S O, Temizel A. Slicing Aided Hyper Inference andFine-tuning for Small Object Detection (SAHI). IEEE ICIP, 2022. —— SAHI</a:t>
            </a: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切片辅助推理，本文</a:t>
            </a:r>
            <a:r>
              <a:rPr kumimoji="0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SAHI</a:t>
            </a: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方案的直接依据</a:t>
            </a:r>
            <a:endParaRPr kumimoji="0" lang="zh-CN" altLang="en-US" sz="146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[3] Cheng G, Li J, Xie X, et al. A Uniform Tiling Strategy for Large-ScaleObject Detection in Remote Sensing Images. IEEE TGRS, 2021.</a:t>
            </a: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 遥感大图均匀切片策略</a:t>
            </a:r>
            <a:endParaRPr kumimoji="0" lang="zh-CN" altLang="en-US" sz="146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[4] Bolya D, Zhou C, Xiao F, et al. YOLACT: Real-time Instance Segmentation. ICCV, 2019.</a:t>
            </a: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—— 实时实例分割经典方法</a:t>
            </a:r>
            <a:endParaRPr kumimoji="0" lang="en-US" altLang="zh-CN" sz="146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[5] Vora S, Lang A H, Helou B, et al. PointPainting: Sequential Fusion for3D Object Detection. CVPR, 2020.</a:t>
            </a: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 将2</a:t>
            </a:r>
            <a:r>
              <a:rPr kumimoji="0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语义分割结果"绘制"到3</a:t>
            </a:r>
            <a:r>
              <a:rPr kumimoji="0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点云上的序列融合策略</a:t>
            </a:r>
            <a:endParaRPr kumimoji="0" lang="en-US" altLang="zh-CN" sz="146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[6] Edelsbrunner H, Mucke E P. Three-dimensional Alpha Shapes. ACM Transactions on Graphics, 1994.—— Alpha Shape</a:t>
            </a: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算法，本文体积估算方法</a:t>
            </a:r>
            <a:r>
              <a:rPr kumimoji="0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的理论基础</a:t>
            </a:r>
            <a:endParaRPr kumimoji="0" lang="en-US" altLang="zh-CN" sz="146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[7] Tang Y, Wang Y, Si G. Vision-based Size Distribution Analysis of Rock Fragments Using Multimodal Deep Learning and Interactive Annotation. Automation in Construction, 2024.</a:t>
            </a: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 基于多模态深度学习的岩石碎片尺寸分布分析</a:t>
            </a:r>
            <a:endParaRPr kumimoji="0" lang="en-US" altLang="zh-CN" sz="146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[8] Yi H, Wu A, Zhang X. Rock Blasting Evaluation — Image Recognition Method Based on Deep Learning. Scientific Reports, 2025. </a:t>
            </a: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 深度学习在爆破岩石破碎评估中的应用</a:t>
            </a:r>
            <a:endParaRPr kumimoji="0" lang="zh-CN" altLang="en-US" sz="146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34918" y="237124"/>
            <a:ext cx="3118796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附录：参考文献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5" name="等腰三角形 14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0703" y="-1177515"/>
            <a:ext cx="10136158" cy="10136158"/>
          </a:xfrm>
          <a:prstGeom prst="rect">
            <a:avLst/>
          </a:prstGeom>
        </p:spPr>
      </p:pic>
      <p:sp>
        <p:nvSpPr>
          <p:cNvPr id="20" name="TextBox 5"/>
          <p:cNvSpPr txBox="1"/>
          <p:nvPr/>
        </p:nvSpPr>
        <p:spPr>
          <a:xfrm>
            <a:off x="6028782" y="4969057"/>
            <a:ext cx="1370330" cy="37846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导师：许</a:t>
            </a: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晨</a:t>
            </a:r>
            <a:endParaRPr kumimoji="0" lang="zh-CN" altLang="en-US" sz="1865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372002" y="4231580"/>
            <a:ext cx="5088826" cy="47256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笃学力行，守正求新</a:t>
            </a:r>
            <a:endParaRPr kumimoji="0" lang="zh-CN" altLang="en-US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90108" y="4969057"/>
            <a:ext cx="1845310" cy="378460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汇报人：王冬</a:t>
            </a:r>
            <a:r>
              <a:rPr kumimoji="1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</a:t>
            </a:r>
            <a:endParaRPr kumimoji="1" lang="zh-CN" altLang="en-US" sz="1865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061496" y="3162435"/>
            <a:ext cx="8229404" cy="830997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谢谢！恳请各位老师批评指正！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3390108" y="4166691"/>
            <a:ext cx="670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1" y="1552169"/>
            <a:ext cx="2387969" cy="3826419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chemeClr val="accent1"/>
          </a:solidFill>
          <a:ln w="5" cap="flat">
            <a:solidFill>
              <a:schemeClr val="accent1"/>
            </a:solidFill>
            <a:prstDash val="solid"/>
            <a:miter lim="800000"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2296560" y="2937549"/>
            <a:ext cx="182819" cy="2259004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52916" y="1498910"/>
            <a:ext cx="4542969" cy="1134276"/>
          </a:xfrm>
          <a:prstGeom prst="rect">
            <a:avLst/>
          </a:prstGeom>
        </p:spPr>
      </p:pic>
      <p:sp>
        <p:nvSpPr>
          <p:cNvPr id="3" name="TextBox 5"/>
          <p:cNvSpPr txBox="1"/>
          <p:nvPr/>
        </p:nvSpPr>
        <p:spPr>
          <a:xfrm>
            <a:off x="3390108" y="5378588"/>
            <a:ext cx="2386330" cy="37846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汇报日期：</a:t>
            </a:r>
            <a:r>
              <a:rPr lang="en-US" altLang="zh-CN" sz="18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2026.7.1</a:t>
            </a:r>
            <a:endParaRPr kumimoji="0" lang="en-US" altLang="zh-CN" sz="1865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2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3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4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5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6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7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8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9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10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11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12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13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14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15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16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17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18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19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20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21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22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23.xml><?xml version="1.0" encoding="utf-8"?>
<p:tagLst xmlns:p="http://schemas.openxmlformats.org/presentationml/2006/main">
  <p:tag name="KSO_WM_DIAGRAM_VIRTUALLY_FRAME" val="{&quot;height&quot;:409.15220472440944,&quot;left&quot;:440.6633858267716,&quot;top&quot;:71.81259842519685,&quot;width&quot;:485.55}"/>
</p:tagLst>
</file>

<file path=ppt/tags/tag24.xml><?xml version="1.0" encoding="utf-8"?>
<p:tagLst xmlns:p="http://schemas.openxmlformats.org/presentationml/2006/main">
  <p:tag name="KSO_WM_DIAGRAM_VIRTUALLY_FRAME" val="{&quot;height&quot;:345.1974803149606,&quot;left&quot;:44.249921259842516,&quot;top&quot;:132.38338582677164,&quot;width&quot;:391.5}"/>
</p:tagLst>
</file>

<file path=ppt/tags/tag25.xml><?xml version="1.0" encoding="utf-8"?>
<p:tagLst xmlns:p="http://schemas.openxmlformats.org/presentationml/2006/main">
  <p:tag name="KSO_WM_DIAGRAM_VIRTUALLY_FRAME" val="{&quot;height&quot;:345.1974803149606,&quot;left&quot;:44.249921259842516,&quot;top&quot;:132.38338582677164,&quot;width&quot;:391.5}"/>
</p:tagLst>
</file>

<file path=ppt/tags/tag26.xml><?xml version="1.0" encoding="utf-8"?>
<p:tagLst xmlns:p="http://schemas.openxmlformats.org/presentationml/2006/main">
  <p:tag name="KSO_WM_DIAGRAM_VIRTUALLY_FRAME" val="{&quot;height&quot;:345.1974803149606,&quot;left&quot;:44.249921259842516,&quot;top&quot;:132.38338582677164,&quot;width&quot;:391.5}"/>
</p:tagLst>
</file>

<file path=ppt/tags/tag27.xml><?xml version="1.0" encoding="utf-8"?>
<p:tagLst xmlns:p="http://schemas.openxmlformats.org/presentationml/2006/main">
  <p:tag name="KSO_WM_DIAGRAM_VIRTUALLY_FRAME" val="{&quot;height&quot;:345.1974803149606,&quot;left&quot;:44.249921259842516,&quot;top&quot;:132.38338582677164,&quot;width&quot;:391.5}"/>
</p:tagLst>
</file>

<file path=ppt/tags/tag28.xml><?xml version="1.0" encoding="utf-8"?>
<p:tagLst xmlns:p="http://schemas.openxmlformats.org/presentationml/2006/main">
  <p:tag name="KSO_WM_DIAGRAM_VIRTUALLY_FRAME" val="{&quot;height&quot;:345.1974803149606,&quot;left&quot;:44.249921259842516,&quot;top&quot;:132.38338582677164,&quot;width&quot;:391.5}"/>
</p:tagLst>
</file>

<file path=ppt/tags/tag29.xml><?xml version="1.0" encoding="utf-8"?>
<p:tagLst xmlns:p="http://schemas.openxmlformats.org/presentationml/2006/main">
  <p:tag name="KSO_WM_DIAGRAM_VIRTUALLY_FRAME" val="{&quot;height&quot;:345.1974803149606,&quot;left&quot;:44.249921259842516,&quot;top&quot;:132.38338582677164,&quot;width&quot;:391.5}"/>
</p:tagLst>
</file>

<file path=ppt/tags/tag30.xml><?xml version="1.0" encoding="utf-8"?>
<p:tagLst xmlns:p="http://schemas.openxmlformats.org/presentationml/2006/main">
  <p:tag name="KSO_WM_DIAGRAM_VIRTUALLY_FRAME" val="{&quot;height&quot;:345.1974803149606,&quot;left&quot;:44.249921259842516,&quot;top&quot;:132.38338582677164,&quot;width&quot;:391.5}"/>
</p:tagLst>
</file>

<file path=ppt/tags/tag31.xml><?xml version="1.0" encoding="utf-8"?>
<p:tagLst xmlns:p="http://schemas.openxmlformats.org/presentationml/2006/main">
  <p:tag name="KSO_WM_DIAGRAM_VIRTUALLY_FRAME" val="{&quot;height&quot;:345.1974803149606,&quot;left&quot;:44.249921259842516,&quot;top&quot;:132.38338582677164,&quot;width&quot;:391.5}"/>
</p:tagLst>
</file>

<file path=ppt/tags/tag32.xml><?xml version="1.0" encoding="utf-8"?>
<p:tagLst xmlns:p="http://schemas.openxmlformats.org/presentationml/2006/main">
  <p:tag name="KSO_WM_DIAGRAM_VIRTUALLY_FRAME" val="{&quot;height&quot;:345.1974803149606,&quot;left&quot;:44.249921259842516,&quot;top&quot;:132.38338582677164,&quot;width&quot;:391.5}"/>
</p:tagLst>
</file>

<file path=ppt/tags/tag33.xml><?xml version="1.0" encoding="utf-8"?>
<p:tagLst xmlns:p="http://schemas.openxmlformats.org/presentationml/2006/main">
  <p:tag name="KSO_WM_DIAGRAM_VIRTUALLY_FRAME" val="{&quot;height&quot;:345.1974803149606,&quot;left&quot;:44.249921259842516,&quot;top&quot;:132.38338582677164,&quot;width&quot;:391.5}"/>
</p:tagLst>
</file>

<file path=ppt/tags/tag34.xml><?xml version="1.0" encoding="utf-8"?>
<p:tagLst xmlns:p="http://schemas.openxmlformats.org/presentationml/2006/main">
  <p:tag name="KSO_WM_DIAGRAM_VIRTUALLY_FRAME" val="{&quot;height&quot;:345.1974803149606,&quot;left&quot;:44.249921259842516,&quot;top&quot;:132.38338582677164,&quot;width&quot;:391.5}"/>
</p:tagLst>
</file>

<file path=ppt/tags/tag35.xml><?xml version="1.0" encoding="utf-8"?>
<p:tagLst xmlns:p="http://schemas.openxmlformats.org/presentationml/2006/main">
  <p:tag name="KSO_WM_DIAGRAM_VIRTUALLY_FRAME" val="{&quot;height&quot;:345.1974803149606,&quot;left&quot;:44.249921259842516,&quot;top&quot;:132.38338582677164,&quot;width&quot;:391.5}"/>
</p:tagLst>
</file>

<file path=ppt/tags/tag36.xml><?xml version="1.0" encoding="utf-8"?>
<p:tagLst xmlns:p="http://schemas.openxmlformats.org/presentationml/2006/main">
  <p:tag name="TABLE_ENDDRAG_ORIGIN_RECT" val="754*197"/>
  <p:tag name="TABLE_ENDDRAG_RECT" val="57*127*754*197"/>
</p:tagLst>
</file>

<file path=ppt/tags/tag37.xml><?xml version="1.0" encoding="utf-8"?>
<p:tagLst xmlns:p="http://schemas.openxmlformats.org/presentationml/2006/main">
  <p:tag name="TABLE_ENDDRAG_ORIGIN_RECT" val="480*165"/>
  <p:tag name="TABLE_ENDDRAG_RECT" val="24*124*480*165"/>
</p:tagLst>
</file>

<file path=ppt/tags/tag38.xml><?xml version="1.0" encoding="utf-8"?>
<p:tagLst xmlns:p="http://schemas.openxmlformats.org/presentationml/2006/main">
  <p:tag name="TABLE_ENDDRAG_ORIGIN_RECT" val="480*165"/>
  <p:tag name="TABLE_ENDDRAG_RECT" val="36*306*480*165"/>
</p:tagLst>
</file>

<file path=ppt/tags/tag39.xml><?xml version="1.0" encoding="utf-8"?>
<p:tagLst xmlns:p="http://schemas.openxmlformats.org/presentationml/2006/main">
  <p:tag name="TABLE_ENDDRAG_ORIGIN_RECT" val="866*189"/>
  <p:tag name="TABLE_ENDDRAG_RECT" val="52*73*866*189"/>
</p:tagLst>
</file>

<file path=ppt/tags/tag40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41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42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43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44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45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46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47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48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49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50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51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52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53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54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55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56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57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58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59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60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61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62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63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64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65.xml><?xml version="1.0" encoding="utf-8"?>
<p:tagLst xmlns:p="http://schemas.openxmlformats.org/presentationml/2006/main">
  <p:tag name="KSO_WM_DIAGRAM_VIRTUALLY_FRAME" val="{&quot;height&quot;:274.4136220472442,&quot;left&quot;:96.63102362204714,&quot;top&quot;:161.93889763779526,&quot;width&quot;:766.7250393700788}"/>
</p:tagLst>
</file>

<file path=ppt/tags/tag66.xml><?xml version="1.0" encoding="utf-8"?>
<p:tagLst xmlns:p="http://schemas.openxmlformats.org/presentationml/2006/main">
  <p:tag name="COMMONDATA" val="eyJoZGlkIjoiZmE4MTE4ZmEzYTFiZGMyY2Y2NjA4NTk4ZTBkMmZhYTgifQ=="/>
</p:tagLst>
</file>

<file path=ppt/theme/theme1.xml><?xml version="1.0" encoding="utf-8"?>
<a:theme xmlns:a="http://schemas.openxmlformats.org/drawingml/2006/main" name="第一PPT，www.1ppt.com">
  <a:themeElements>
    <a:clrScheme name="自定义 2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03B90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节标题">
  <a:themeElements>
    <a:clrScheme name="Office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03B90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03B90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2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03B90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3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03B90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4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03B90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5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03B90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6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03B90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7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03B90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8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03B90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9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03B90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0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03B90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03B90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2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03B90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3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03B90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4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03B90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4277</Words>
  <Application>WPS 演示</Application>
  <PresentationFormat>宽屏</PresentationFormat>
  <Paragraphs>485</Paragraphs>
  <Slides>19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Arial Black</vt:lpstr>
      <vt:lpstr>Wingdings 2</vt:lpstr>
      <vt:lpstr>Wingdings</vt:lpstr>
      <vt:lpstr>幼圆</vt:lpstr>
      <vt:lpstr>华文行楷</vt:lpstr>
      <vt:lpstr>Arial</vt:lpstr>
      <vt:lpstr>Calibri</vt:lpstr>
      <vt:lpstr>Calibri</vt:lpstr>
      <vt:lpstr>Times New Roman</vt:lpstr>
      <vt:lpstr>-apple-system</vt:lpstr>
      <vt:lpstr>Segoe Print</vt:lpstr>
      <vt:lpstr>阿里巴巴普惠体 3 65 Medium</vt:lpstr>
      <vt:lpstr>思源宋体 CN Heavy</vt:lpstr>
      <vt:lpstr>阿里巴巴普惠体 3.0 65 Medium</vt:lpstr>
      <vt:lpstr>Arial Unicode MS</vt:lpstr>
      <vt:lpstr>等线</vt:lpstr>
      <vt:lpstr>等线 Light</vt:lpstr>
      <vt:lpstr>-apple-system</vt:lpstr>
      <vt:lpstr>阿里巴巴普惠体 3 65 Medium</vt:lpstr>
      <vt:lpstr>阿里巴巴普惠体 3.0 65 Medium</vt:lpstr>
      <vt:lpstr>第一PPT，www.1ppt.com</vt:lpstr>
      <vt:lpstr>节标题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王冬生</cp:lastModifiedBy>
  <cp:revision>65</cp:revision>
  <dcterms:created xsi:type="dcterms:W3CDTF">2020-10-03T12:01:00Z</dcterms:created>
  <dcterms:modified xsi:type="dcterms:W3CDTF">2026-07-01T04:51:13Z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71A53C2E59CD4155B007640B87B42E06_13</vt:lpwstr>
  </property>
  <property fmtid="{D5CDD505-2E9C-101B-9397-08002B2CF9AE}" pid="3" name="KSOProductBuildVer">
    <vt:lpwstr>2052-12.1.0.26895</vt:lpwstr>
  </property>
</Properties>
</file>