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整体研究主线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无人机影像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85416" y="1046988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7" name="Shape 5"/>
          <p:cNvSpPr/>
          <p:nvPr/>
        </p:nvSpPr>
        <p:spPr>
          <a:xfrm>
            <a:off x="2350008" y="86868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728" y="86868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DOM正射影像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15384" y="1046988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10" name="Shape 8"/>
          <p:cNvSpPr/>
          <p:nvPr/>
        </p:nvSpPr>
        <p:spPr>
          <a:xfrm>
            <a:off x="4379976" y="86868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86868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物理尺度分析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1046988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13" name="Shape 11"/>
          <p:cNvSpPr/>
          <p:nvPr/>
        </p:nvSpPr>
        <p:spPr>
          <a:xfrm>
            <a:off x="6409944" y="86868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86868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多尺度切片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96151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151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实例分割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85416" y="2139823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18" name="Shape 16"/>
          <p:cNvSpPr/>
          <p:nvPr/>
        </p:nvSpPr>
        <p:spPr>
          <a:xfrm>
            <a:off x="2350008" y="196151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95728" y="196151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同Tile融合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15384" y="2139823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21" name="Shape 19"/>
          <p:cNvSpPr/>
          <p:nvPr/>
        </p:nvSpPr>
        <p:spPr>
          <a:xfrm>
            <a:off x="4379976" y="196151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5696" y="196151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跨尺度融合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5352" y="2139823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24" name="Shape 22"/>
          <p:cNvSpPr/>
          <p:nvPr/>
        </p:nvSpPr>
        <p:spPr>
          <a:xfrm>
            <a:off x="6409944" y="196151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196151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最终岩石实例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04482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4482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 2D-3D关联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85416" y="3223133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29" name="Shape 27"/>
          <p:cNvSpPr/>
          <p:nvPr/>
        </p:nvSpPr>
        <p:spPr>
          <a:xfrm>
            <a:off x="2350008" y="304482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95728" y="304482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 三维筛查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15384" y="3223133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32" name="Shape 30"/>
          <p:cNvSpPr/>
          <p:nvPr/>
        </p:nvSpPr>
        <p:spPr>
          <a:xfrm>
            <a:off x="4379976" y="304482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25696" y="304482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 地面构建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45352" y="3223133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35" name="Shape 33"/>
          <p:cNvSpPr/>
          <p:nvPr/>
        </p:nvSpPr>
        <p:spPr>
          <a:xfrm>
            <a:off x="6409944" y="304482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304482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12. 10mm 2.5D表面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22211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2211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13. 12维形状特征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185416" y="4400423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40" name="Shape 38"/>
          <p:cNvSpPr/>
          <p:nvPr/>
        </p:nvSpPr>
        <p:spPr>
          <a:xfrm>
            <a:off x="2350008" y="422211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95728" y="422211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14. LightGBM体积校正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215384" y="4400423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43" name="Shape 41"/>
          <p:cNvSpPr/>
          <p:nvPr/>
        </p:nvSpPr>
        <p:spPr>
          <a:xfrm>
            <a:off x="4379976" y="422211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25696" y="422211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15. 4000块分层估算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45352" y="4400423"/>
            <a:ext cx="128016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46" name="Shape 44"/>
          <p:cNvSpPr/>
          <p:nvPr/>
        </p:nvSpPr>
        <p:spPr>
          <a:xfrm>
            <a:off x="6409944" y="4222115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55664" y="4222115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16. 粒径体积统计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06240" y="1426464"/>
            <a:ext cx="146304" cy="292608"/>
          </a:xfrm>
          <a:prstGeom prst="downArrow">
            <a:avLst/>
          </a:prstGeom>
          <a:solidFill>
            <a:srgbClr val="1F4E79"/>
          </a:solidFill>
        </p:spPr>
      </p:sp>
      <p:sp>
        <p:nvSpPr>
          <p:cNvPr id="49" name="Shape 47"/>
          <p:cNvSpPr/>
          <p:nvPr/>
        </p:nvSpPr>
        <p:spPr>
          <a:xfrm>
            <a:off x="4213225" y="2572004"/>
            <a:ext cx="146304" cy="292608"/>
          </a:xfrm>
          <a:prstGeom prst="downArrow">
            <a:avLst/>
          </a:prstGeom>
          <a:solidFill>
            <a:srgbClr val="1F4E79"/>
          </a:solidFill>
        </p:spPr>
      </p:sp>
      <p:sp>
        <p:nvSpPr>
          <p:cNvPr id="50" name="Shape 48"/>
          <p:cNvSpPr/>
          <p:nvPr/>
        </p:nvSpPr>
        <p:spPr>
          <a:xfrm>
            <a:off x="4197350" y="3756914"/>
            <a:ext cx="146304" cy="292608"/>
          </a:xfrm>
          <a:prstGeom prst="downArrow">
            <a:avLst/>
          </a:prstGeom>
          <a:solidFill>
            <a:srgbClr val="1F4E79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DOM数据与多尺度分割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采用物理尺度驱动的多尺度方法，使不同大小的石块在网络输入中始终处于合适的像素尺寸。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97864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三档切片覆盖粒径跨度（约2 cm — 3.4 m），解决固定像素尺度下小石块看不清、大石块被切碎的问题。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828800"/>
          <a:ext cx="8046720" cy="2304288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数据项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DOM数据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DOM2矿区正射影像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影像分辨率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0.01 米 / 像素（10 mm）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粗尺度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单块覆盖 10.24 m，适用 ≥ 0.5 m 大石块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中尺度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单块覆盖 5.12 m，适用 0.3 – 0.5 m 中石块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细尺度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单块覆盖 2.56 m，适用 &lt; 0.3 m 小石块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多尺度级联检测结果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三个尺度独立检测产生大量重复。经过同尺度融合和跨尺度去重两道工序，最终得到唯一的岩石实例。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97864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级联去重先在每个尺度内部合并碎片检测，再在尺度之间合并同一石块的重复检测。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874520"/>
          <a:ext cx="5029200" cy="2779776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处理阶段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石块数量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粗尺度原始检测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37,470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中尺度原始检测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101,642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细尺度原始检测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179,286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原始检测合计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318,398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同尺度融合后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112,983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跨尺度去重后（最终）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76,407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通过三维筛查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69,911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2011680"/>
            <a:ext cx="2651760" cy="1463040"/>
          </a:xfrm>
          <a:prstGeom prst="rect">
            <a:avLst/>
          </a:prstGeom>
          <a:solidFill>
            <a:srgbClr val="F2F7FB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21488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去重比例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260604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318,398 → 76,407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0" y="30632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重复率约 76%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同Tile融合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相邻Tile在重叠区域会重复检测到同一石块的碎片，需要通过多特征评分判断是否为同一石块并合并。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4937760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候选匹配条件（预筛选）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45336"/>
            <a:ext cx="49377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边框交并比 ≥ 0.05，且掩膜交并比 &gt; 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105"/>
            <a:ext cx="4940935" cy="1214755"/>
          </a:xfrm>
          <a:prstGeom prst="rect">
            <a:avLst/>
          </a:prstGeom>
          <a:solidFill>
            <a:srgbClr val="FAFBFD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83537"/>
            <a:ext cx="4937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融合评分公式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1815" y="2167255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0000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S = 0.30 · IoU  +  0.20 · exp(−d²/2σ²)  +  0.20 · rA  +  0.15 · B  +  0.15 · 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1815" y="2513965"/>
            <a:ext cx="4937760" cy="5276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σ = 50 像素（相当于 0.5 米）；rA = 面积较小值 / 面积较大值；B = 边界完整性均值；C = 置信度均值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3154680"/>
          <a:ext cx="4937760" cy="1810512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评分项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掩膜交并比 IoU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衡量两个检测的形状重叠程度，重叠越多越可能是同一块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质心距离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衡量两个检测中心的接近程度，越近越可能是同一块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面积相似比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两块面积差别太大通常不是同一石块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边界完整性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位于Tile边界的检测需要降低权重，避免误合并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置信度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检测置信度高的结果更可靠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760720" y="1234440"/>
            <a:ext cx="301752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合并规则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760720" y="1527048"/>
            <a:ext cx="30175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 ≥ 0.50 → 判定为同一石块并合并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60720" y="1856232"/>
            <a:ext cx="30175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组内保留置信度与边界完整性乘积最高的实例作为代表</a:t>
            </a:r>
            <a:endParaRPr lang="en-US" sz="1200" dirty="0"/>
          </a:p>
        </p:txBody>
      </p:sp>
      <p:pic>
        <p:nvPicPr>
          <p:cNvPr id="15" name="Image 0" descr="output/dom2_full/visualizations/fusion_demo/zoom_within_6_463de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286000"/>
            <a:ext cx="3017520" cy="23774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470916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同一石块被多个相邻Tile重复检测（不同颜色），经评分判断后合并为一个实例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跨尺度融合（级联去重）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同一块石头在粗、中、细三个尺度都会被检测到，需要判断哪些检测属于同一块，并只保留一个最终结果。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389120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候选分组条件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91056"/>
            <a:ext cx="43891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边框有一定重叠（IoU ≥ 0.05）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3891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掩膜存在重叠（IoU &gt; 0）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249424"/>
            <a:ext cx="43891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尺寸相差不悬殊（等效直径比 ≥ 0.3）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43891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质心距离在较大石块半径以内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389120" cy="310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主尺度保留规则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191256"/>
            <a:ext cx="43891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等效直径 ≥ 0.50 m → 保留粗尺度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43891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等效直径 0.30 – 0.50 m → 保留中尺度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849624"/>
            <a:ext cx="43891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等效直径 &lt; 0.30 m → 保留细尺度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178808"/>
            <a:ext cx="43891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每个石块只保留其主尺度中质量最高的检测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507992"/>
            <a:ext cx="43891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不做跨尺度掩膜融合，避免误合并相邻石块</a:t>
            </a:r>
            <a:endParaRPr lang="en-US" sz="1250" dirty="0"/>
          </a:p>
        </p:txBody>
      </p:sp>
      <p:pic>
        <p:nvPicPr>
          <p:cNvPr id="16" name="Image 0" descr="0826/fig_cross_scale_prod_1136x59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188720"/>
            <a:ext cx="3566160" cy="18288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303520" y="3566160"/>
            <a:ext cx="3474720" cy="1280160"/>
          </a:xfrm>
          <a:prstGeom prst="rect">
            <a:avLst/>
          </a:prstGeom>
          <a:solidFill>
            <a:srgbClr val="F5F9FC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0" y="361188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案例说明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40680" y="3886200"/>
            <a:ext cx="32004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左图：融合前——同一块石头被多尺度、多切片重复检测为多个彩色碎片；右图：生产级联去重后——每块石头唯一保留一个实例（本区域共5,540块，含35块一米以上大石块）。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最终岩石实例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经过多尺度检测、同Tile融合和跨尺度级联去重，最终得到每块岩石唯一的实例结果。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每个实例包含：像素坐标边框、掩膜轮廓、置信度、所属主尺度、边界完整性等信息。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后续所有三维关联和体积计算均基于这 76,407 个唯一实例展开。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2286000"/>
          <a:ext cx="5486400" cy="2688336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数值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最终实例总数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76,407 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通过三维筛查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69,911 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三维筛查通过率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91.5%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粗尺度主导石块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 1,500 块（大石块）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中尺度主导石块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 8,800 块（中石块）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细尺度主导石块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 66,000 块（小石块）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二维—三维关联筛查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将二维检测框映射到三维点云空间，逐块统计点云特征。没有真实抬升高度的误检（阴影、纹理等）会被剔除。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四项筛查条件（须全部满足）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点云数量 ≥ 60 个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高度范围 ≥ 0.18 米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第90百分位高度 ≥ 0.12 米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596896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抬高点占比 ≥ 20%（抬升阈值 0.08 米）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剔除原因统计（6,496 块被筛除）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392424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抬高点占比不足：5,847 块（最主要）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第90百分位高度不足：5,207 块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050792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高度范围不足：357 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379976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点云数量不足：184 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411480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地面点不足：3 块</a:t>
            </a:r>
            <a:endParaRPr lang="en-US" sz="1150" dirty="0"/>
          </a:p>
        </p:txBody>
      </p:sp>
      <p:pic>
        <p:nvPicPr>
          <p:cNvPr id="16" name="Image 0" descr="0826/fig_2d3d_screening_1340x69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7865" y="1170305"/>
            <a:ext cx="4270375" cy="28803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46320" y="4183380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左图：筛查前（绿色保留，红色剔除）  右图：筛查后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46320" y="457200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被剔除的红框集中在影像边缘无数据带和阴影区域，说明三维筛查有效消除了误检。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地面构建与地面移除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原始点云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66544" y="1138428"/>
            <a:ext cx="182880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7" name="Shape 5"/>
          <p:cNvSpPr/>
          <p:nvPr/>
        </p:nvSpPr>
        <p:spPr>
          <a:xfrm>
            <a:off x="2304288" y="9601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0008" y="9601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地面DEM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22192" y="1138428"/>
            <a:ext cx="182880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10" name="Shape 8"/>
          <p:cNvSpPr/>
          <p:nvPr/>
        </p:nvSpPr>
        <p:spPr>
          <a:xfrm>
            <a:off x="4059936" y="9601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05656" y="9601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高度归一化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138428"/>
            <a:ext cx="182880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13" name="Shape 11"/>
          <p:cNvSpPr/>
          <p:nvPr/>
        </p:nvSpPr>
        <p:spPr>
          <a:xfrm>
            <a:off x="5815584" y="9601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1304" y="9601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岩石相对高度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33488" y="1138428"/>
            <a:ext cx="182880" cy="146304"/>
          </a:xfrm>
          <a:prstGeom prst="rightArrow">
            <a:avLst/>
          </a:prstGeom>
          <a:solidFill>
            <a:srgbClr val="1F4E79"/>
          </a:solidFill>
        </p:spPr>
      </p:sp>
      <p:sp>
        <p:nvSpPr>
          <p:cNvPr id="16" name="Shape 14"/>
          <p:cNvSpPr/>
          <p:nvPr/>
        </p:nvSpPr>
        <p:spPr>
          <a:xfrm>
            <a:off x="7571232" y="9601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2F7FB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9601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2.5D顶面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1783080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地面DEM构建方式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112264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将场景点云按 0.5 米网格分箱，每格取高度的第 5 百分位数作为地面高程（低百分位可抑制石块抬升点对地面的高估）。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6260" y="2571623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每格至少 3 个点，不足处通过空洞插值填充。采样步长 100 用于加速场景级构建。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2770632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地面移除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099816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逐点查询所在格的地面高程，计算相对高度 h = z − z_ground（截断为非负值）。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岩石 bbox 内的点云按 10 毫米网格取每格最大相对高度，得到地面参考的 2.5D 顶面。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外部数据集与形状校正模型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真实矿区没有单石块的真值体积，因此用外部三维网格数据集（OBJ格式，每个都有精确体积）来验证体积校正方法。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数据集包含两类共 465 个石块模型，用于方法学验证，不直接用于矿区。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589405"/>
          <a:ext cx="8046720" cy="146304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5029200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数据集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数量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T01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79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火山碎屑岩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L01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386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另一类岩石样本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合计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465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均为三维网格模型，有精确体积真值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61030"/>
            <a:ext cx="80467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尺度适配：外部模型 → 真实矿区分辨率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471672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外部模型尺寸较小，直接用 10 毫米栅格化会产生大量空表面。经尺度审计后统一放大 82.74 倍，使外部模型与矿区石块的footprint尺度可比。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902456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放大后 465/465 全部形成有效 10 毫米表面，按对象分组切分为训练/验证/测试 = 326/70/69。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253865"/>
            <a:ext cx="80467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模型：LightGBM 梯度提升树</a:t>
            </a:r>
            <a:endParaRPr lang="en-US" sz="1300" dirty="0"/>
          </a:p>
        </p:txBody>
      </p:sp>
      <p:sp>
        <p:nvSpPr>
          <p:cNvPr id="6" name="Text 8"/>
          <p:cNvSpPr/>
          <p:nvPr/>
        </p:nvSpPr>
        <p:spPr>
          <a:xfrm>
            <a:off x="548640" y="4654042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 12 维无量纲形状特征 → 输出校正比 y = V真实 / V_2.5D → 最终体积 V预测 = V_2.5D × y预测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十二维形状感知特征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从二维轮廓、高度分布和三维形状三个角度提取 12 个无量纲特征，描述岩石的形态特点。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280160"/>
          <a:ext cx="8046720" cy="319659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3840480"/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特征类别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特征名称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物理含义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二维形态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圆度 C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轮廓接近圆形的程度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二维形态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长宽比 AR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最大直径与最小直径之比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二维形态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充实度 solidity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轮廓面积与凸包面积之比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二维形态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紧凑度 compactness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面积与周长平方的比值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二维形态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等效直径比 eq_diam_ratio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等效圆直径与最大直径之比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高度统计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高度均值比 H_mean_norm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平均高度 / 最大高度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高度统计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高度标准差比 H_std_norm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高度标准差 / 最大高度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高度统计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高度分位数比 H_p25 / H_p75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第25/75百分位高度 / 最大高度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高度统计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高度偏度 H_skew_norm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高度分布的偏斜程度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三维形状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填充比 fill_ratio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2.5D体积与外接棱柱体积之比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三维形状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椭球比 ellipsoid_ratio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2.5D体积与半椭球体积之比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形状校正模型验证结果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在缩放至 10 毫米的外部网格测试集上对比三种体积估算方法。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1417320"/>
          <a:ext cx="8046720" cy="1682496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平均绝对误差 (mm³)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平均相对误差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决定系数 R²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原始2.5D体积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59,903,925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54.24%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0.1895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全局常数校正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8,723,245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6.99%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0.9705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形状感知校正 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7,167,711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5.82%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0.9838</a:t>
                      </a:r>
                      <a:endParaRPr lang="en-US" sz="13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00400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最优迭代次数：第 356 轮。测试样本数：69 个（按对象分组切分，无泄漏）。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3529584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形状感知校正将原始 2.5D 的相对误差从 54.24% 降至 5.82%，且优于简单的全局常数校正。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858768"/>
            <a:ext cx="8046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注意：5.82% 是外部缩放网格测试集的方法学验证结果，不是真实矿区的体积误差。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四千块真实矿区体积估算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69,911 个通过三维筛查的石块中，按等效直径分层抽取 4,000 块进行体积估算（分层代表性应用，非全量估算）。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417320"/>
          <a:ext cx="3931920" cy="2304288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三维筛查通过总数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69,911 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分层抽样数量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4,000 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体积估算成功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3,639 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估算失败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361 块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流程成功率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90.98%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/>
        </p:nvGraphicFramePr>
        <p:xfrm>
          <a:off x="4846320" y="1417320"/>
          <a:ext cx="3749040" cy="2304288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005840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粒径层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抽样数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成功率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S1 最小10%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400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84.0%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S2 P10–P25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600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86.3%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S3 P25–P50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1,000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87.5%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S4 P50–P75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1,000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92.3%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S5 P75–P90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600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98.0%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S6 最大10%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400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99.8%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失败原因：361 块全部为 2.5D 顶面为空（小石块在 10 毫米网格下没有足够点形成有效表面）。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4160520"/>
            <a:ext cx="804672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成功率随粒径单调上升，越大的石块表面越完整、估算越可靠。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4489704"/>
            <a:ext cx="80467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90.98% 是体积估算流程的成功率，不是体积精度或模型准确率。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四千块体积结果分析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5240">
            <a:solidFill>
              <a:srgbClr val="D9D9D9"/>
            </a:solidFill>
            <a:prstDash val="solid"/>
          </a:ln>
        </p:spPr>
      </p:sp>
      <p:pic>
        <p:nvPicPr>
          <p:cNvPr id="4" name="Image 0" descr="0826/fig_volume_histogram_1067x58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5303520" cy="292608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035040" y="914400"/>
          <a:ext cx="2651760" cy="2487168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关键指标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数值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样本总体积 (V预测)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 40.28 立方米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单石块体积中位数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0.00103 立方米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第25百分位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0.00025 立方米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第75百分位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0.00413 立方米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总体校正比 V/V_2.5D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0.681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校正比中位数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0.680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粒径范围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0.023 – 3.45 米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3736</Words>
  <Application>WPS 演示</Application>
  <PresentationFormat>On-screen Show (16:9)</PresentationFormat>
  <Paragraphs>542</Paragraphs>
  <Slides>13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</vt:lpstr>
      <vt:lpstr>Arial</vt:lpstr>
      <vt:lpstr>Cambria Math</vt:lpstr>
      <vt:lpstr>Cambria Math</vt:lpstr>
      <vt:lpstr>Cambria Math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王冬生</cp:lastModifiedBy>
  <cp:revision>2</cp:revision>
  <dcterms:created xsi:type="dcterms:W3CDTF">2026-08-27T01:47:00Z</dcterms:created>
  <dcterms:modified xsi:type="dcterms:W3CDTF">2026-08-27T01:51:53Z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F2233E59A9CF481F9A0807D5B69411FE_12</vt:lpwstr>
  </property>
</Properties>
</file>